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jpg"/><Relationship Id="rId5"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jpg"/><Relationship Id="rId5"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548640" y="347472"/>
            <a:ext cx="1181552" cy="621792"/>
          </a:xfrm>
          <a:prstGeom prst="rect">
            <a:avLst/>
          </a:prstGeom>
        </p:spPr>
      </p:pic>
      <p:pic>
        <p:nvPicPr>
          <p:cNvPr id="3" name="Picture 2" descr="logo_vishwakarma.png"/>
          <p:cNvPicPr>
            <a:picLocks noChangeAspect="1"/>
          </p:cNvPicPr>
          <p:nvPr/>
        </p:nvPicPr>
        <p:blipFill>
          <a:blip r:embed="rId3"/>
          <a:stretch>
            <a:fillRect/>
          </a:stretch>
        </p:blipFill>
        <p:spPr>
          <a:xfrm>
            <a:off x="2011680" y="274320"/>
            <a:ext cx="777240" cy="777240"/>
          </a:xfrm>
          <a:prstGeom prst="rect">
            <a:avLst/>
          </a:prstGeom>
        </p:spPr>
      </p:pic>
      <p:sp>
        <p:nvSpPr>
          <p:cNvPr id="4" name="TextBox 3"/>
          <p:cNvSpPr txBox="1"/>
          <p:nvPr/>
        </p:nvSpPr>
        <p:spPr>
          <a:xfrm>
            <a:off x="3474720" y="347472"/>
            <a:ext cx="8046720" cy="640080"/>
          </a:xfrm>
          <a:prstGeom prst="rect">
            <a:avLst/>
          </a:prstGeom>
          <a:noFill/>
        </p:spPr>
        <p:txBody>
          <a:bodyPr wrap="square">
            <a:spAutoFit/>
          </a:bodyPr>
          <a:lstStyle/>
          <a:p>
            <a:pPr>
              <a:defRPr sz="2200" b="1">
                <a:solidFill>
                  <a:srgbClr val="1A3670"/>
                </a:solidFill>
                <a:latin typeface="Georgia"/>
              </a:defRPr>
            </a:pPr>
            <a:r>
              <a:t>VISHWAKARMA AWARDS 2026–27</a:t>
            </a:r>
          </a:p>
          <a:p>
            <a:pPr>
              <a:defRPr sz="1000" b="1">
                <a:solidFill>
                  <a:srgbClr val="0070AE"/>
                </a:solidFill>
                <a:latin typeface="Aptos"/>
              </a:defRPr>
            </a:pPr>
            <a:r>
              <a:t>STAGE 2 SUBMISSION • NATIONAL INNOVATION &amp; DESIGN COMPETITION</a:t>
            </a:r>
          </a:p>
        </p:txBody>
      </p:sp>
      <p:sp>
        <p:nvSpPr>
          <p:cNvPr id="5" name="Rounded Rectangle 4"/>
          <p:cNvSpPr/>
          <p:nvPr/>
        </p:nvSpPr>
        <p:spPr>
          <a:xfrm>
            <a:off x="548640" y="1234440"/>
            <a:ext cx="5486400" cy="51663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defRPr sz="900" b="1">
                <a:solidFill>
                  <a:srgbClr val="0070AE"/>
                </a:solidFill>
                <a:latin typeface="Aptos"/>
              </a:defRPr>
            </a:pPr>
            <a:r>
              <a:t>TRACK &amp; INSTITUTION</a:t>
            </a:r>
          </a:p>
          <a:p>
            <a:pPr>
              <a:defRPr sz="1300" b="1">
                <a:solidFill>
                  <a:srgbClr val="1A3670"/>
                </a:solidFill>
                <a:latin typeface="Georgia"/>
              </a:defRPr>
            </a:pPr>
            <a:r>
              <a:t>THEME 2 — ASSISTIVE SOLUTIONS (ENABLE INDIA)</a:t>
            </a:r>
            <a:br/>
            <a:r>
              <a:t>IIT INDORE</a:t>
            </a:r>
          </a:p>
          <a:p>
            <a:br/>
            <a:pPr>
              <a:defRPr sz="900" b="1">
                <a:solidFill>
                  <a:srgbClr val="0070AE"/>
                </a:solidFill>
                <a:latin typeface="Aptos"/>
              </a:defRPr>
            </a:pPr>
            <a:r>
              <a:t>TEAM IDENTITY</a:t>
            </a:r>
          </a:p>
          <a:p>
            <a:pPr>
              <a:defRPr sz="1800" b="1">
                <a:solidFill>
                  <a:srgbClr val="166534"/>
                </a:solidFill>
                <a:latin typeface="Georgia"/>
              </a:defRPr>
            </a:pPr>
            <a:r>
              <a:t>TEAM TECHTONICS</a:t>
            </a:r>
          </a:p>
          <a:p>
            <a:br/>
            <a:pPr>
              <a:defRPr sz="900" b="1">
                <a:solidFill>
                  <a:srgbClr val="0070AE"/>
                </a:solidFill>
                <a:latin typeface="Aptos"/>
              </a:defRPr>
            </a:pPr>
            <a:r>
              <a:t>PROJECT TITLE</a:t>
            </a:r>
          </a:p>
          <a:p>
            <a:pPr>
              <a:defRPr sz="3200" b="1">
                <a:solidFill>
                  <a:srgbClr val="1A3670"/>
                </a:solidFill>
                <a:latin typeface="Georgia"/>
              </a:defRPr>
            </a:pPr>
            <a:r>
              <a:t>SPATIAL-SENSE</a:t>
            </a:r>
          </a:p>
          <a:p>
            <a:pPr>
              <a:defRPr sz="1100" b="1">
                <a:solidFill>
                  <a:srgbClr val="1E293B"/>
                </a:solidFill>
                <a:latin typeface="Aptos"/>
              </a:defRPr>
            </a:pPr>
            <a:r>
              <a:t>A 360° Wearable Haptic-Sonar Waistband for Upper-Torso and Head-Level Collision Protection in Deaf-Blind Mobility</a:t>
            </a:r>
          </a:p>
          <a:p>
            <a:br/>
            <a:pPr>
              <a:defRPr sz="900" b="1">
                <a:solidFill>
                  <a:srgbClr val="0070AE"/>
                </a:solidFill>
                <a:latin typeface="Aptos"/>
              </a:defRPr>
            </a:pPr>
            <a:r>
              <a:t>BENEFICIARY FOCUS &amp; ACCESSIBILITY</a:t>
            </a:r>
          </a:p>
          <a:p>
            <a:pPr>
              <a:defRPr sz="950">
                <a:solidFill>
                  <a:srgbClr val="1E293B"/>
                </a:solidFill>
                <a:latin typeface="Aptos"/>
              </a:defRPr>
            </a:pPr>
            <a:r>
              <a:t>• Primary: Deaf-blind individuals (over 450,000 in India)</a:t>
            </a:r>
            <a:br/>
            <a:r>
              <a:t>• Secondary: Visually impaired persons with age-related hearing loss</a:t>
            </a:r>
            <a:br/>
            <a:r>
              <a:t>• Tertiary: Orientation &amp; Mobility (O&amp;M) trainers (EnAble India)</a:t>
            </a:r>
          </a:p>
        </p:txBody>
      </p:sp>
      <p:pic>
        <p:nvPicPr>
          <p:cNvPr id="6" name="Picture 5" descr="spatial_sense_cover.jpg"/>
          <p:cNvPicPr>
            <a:picLocks noChangeAspect="1"/>
          </p:cNvPicPr>
          <p:nvPr/>
        </p:nvPicPr>
        <p:blipFill>
          <a:blip r:embed="rId4"/>
          <a:stretch>
            <a:fillRect/>
          </a:stretch>
        </p:blipFill>
        <p:spPr>
          <a:xfrm>
            <a:off x="6217920" y="1234440"/>
            <a:ext cx="5394960" cy="3154680"/>
          </a:xfrm>
          <a:prstGeom prst="rect">
            <a:avLst/>
          </a:prstGeom>
        </p:spPr>
      </p:pic>
      <p:pic>
        <p:nvPicPr>
          <p:cNvPr id="7" name="Picture 6" descr="dual_plane_geometry.png"/>
          <p:cNvPicPr>
            <a:picLocks noChangeAspect="1"/>
          </p:cNvPicPr>
          <p:nvPr/>
        </p:nvPicPr>
        <p:blipFill>
          <a:blip r:embed="rId5"/>
          <a:stretch>
            <a:fillRect/>
          </a:stretch>
        </p:blipFill>
        <p:spPr>
          <a:xfrm>
            <a:off x="6217920" y="4480560"/>
            <a:ext cx="5394960" cy="1508760"/>
          </a:xfrm>
          <a:prstGeom prst="rect">
            <a:avLst/>
          </a:prstGeom>
        </p:spPr>
      </p:pic>
      <p:sp>
        <p:nvSpPr>
          <p:cNvPr id="8" name="Rounded Rectangle 7"/>
          <p:cNvSpPr/>
          <p:nvPr/>
        </p:nvSpPr>
        <p:spPr>
          <a:xfrm>
            <a:off x="6217920" y="6035040"/>
            <a:ext cx="5394960" cy="36576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t>HANDS-FREE 360° TACTILE OBSTACLE AWARENESS • DUAL-ELEVATION SENSING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PROBLEM STATEMENT</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NEED FOR SPATIAL-SENSE</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777240"/>
            <a:ext cx="6858000" cy="16916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0070AE"/>
                </a:solidFill>
                <a:latin typeface="Aptos"/>
              </a:defRPr>
            </a:pPr>
            <a:r>
              <a:t>PROJECT OVERVIEW &amp; CORE PAIN POINT</a:t>
            </a:r>
          </a:p>
          <a:p>
            <a:pPr>
              <a:defRPr sz="900" b="1">
                <a:solidFill>
                  <a:srgbClr val="1A3670"/>
                </a:solidFill>
                <a:latin typeface="Aptos"/>
              </a:defRPr>
            </a:pPr>
            <a:r>
              <a:t>Project Name: SPATIAL-SENSE | Track: Assistive Solutions (EnAble India), IIT Indore</a:t>
            </a:r>
          </a:p>
          <a:p>
            <a:pPr>
              <a:defRPr sz="850">
                <a:solidFill>
                  <a:srgbClr val="1E293B"/>
                </a:solidFill>
                <a:latin typeface="Aptos"/>
              </a:defRPr>
            </a:pPr>
            <a:r>
              <a:t>Core Problem Statement: "Individuals with deaf-blindness lack non-visual, non-auditory spatial navigation tools, leaving them unprotected against upper-torso and head-level obstacles—such as low-hanging tree branches, truck cargo beds, open casement windows, and street awnings—which ground-sweeping white canes cannot detect."</a:t>
            </a:r>
          </a:p>
          <a:p>
            <a:pPr>
              <a:defRPr sz="800">
                <a:solidFill>
                  <a:srgbClr val="64748B"/>
                </a:solidFill>
                <a:latin typeface="Aptos"/>
              </a:defRPr>
            </a:pPr>
            <a:r>
              <a:t>Clinical Context: Over 450,000 deaf-blind individuals in India experience severe sensorineural hearing loss alongside visual impairment. Standard white canes sweep the ground plane, leaving the cranium and upper torso vulnerable. Acoustic smart canes fail because audio cues cannot be perceived. Frequent collisions cause blunt-force trauma, disorientation, and loss of walking independence.</a:t>
            </a:r>
          </a:p>
        </p:txBody>
      </p:sp>
      <p:sp>
        <p:nvSpPr>
          <p:cNvPr id="8" name="Rounded Rectangle 7"/>
          <p:cNvSpPr/>
          <p:nvPr/>
        </p:nvSpPr>
        <p:spPr>
          <a:xfrm>
            <a:off x="365760" y="2560320"/>
            <a:ext cx="6858000" cy="36576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t>THE EXISTING MOBILITY PROBLEM vs THE SPATIAL-SENSE SOLUTION</a:t>
            </a:r>
          </a:p>
        </p:txBody>
      </p:sp>
      <p:sp>
        <p:nvSpPr>
          <p:cNvPr id="9" name="Rounded Rectangle 8"/>
          <p:cNvSpPr/>
          <p:nvPr/>
        </p:nvSpPr>
        <p:spPr>
          <a:xfrm>
            <a:off x="365760" y="2999232"/>
            <a:ext cx="1645920" cy="10515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850" b="1">
                <a:solidFill>
                  <a:srgbClr val="166534"/>
                </a:solidFill>
                <a:latin typeface="Aptos"/>
              </a:defRPr>
            </a:pPr>
            <a:r>
              <a:t>AI OPTICAL ToF</a:t>
            </a:r>
          </a:p>
          <a:p>
            <a:pPr>
              <a:defRPr sz="720">
                <a:solidFill>
                  <a:srgbClr val="1E293B"/>
                </a:solidFill>
                <a:latin typeface="Aptos"/>
              </a:defRPr>
            </a:pPr>
            <a:r>
              <a:t>Dual-plane distance sensing</a:t>
            </a:r>
            <a:br/>
            <a:r>
              <a:t>(0° waist &amp; +25° head level)</a:t>
            </a:r>
          </a:p>
        </p:txBody>
      </p:sp>
      <p:sp>
        <p:nvSpPr>
          <p:cNvPr id="10" name="Rounded Rectangle 9"/>
          <p:cNvSpPr/>
          <p:nvPr/>
        </p:nvSpPr>
        <p:spPr>
          <a:xfrm>
            <a:off x="2103120" y="2999232"/>
            <a:ext cx="1645920" cy="10515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850" b="1">
                <a:solidFill>
                  <a:srgbClr val="166534"/>
                </a:solidFill>
                <a:latin typeface="Aptos"/>
              </a:defRPr>
            </a:pPr>
            <a:r>
              <a:t>360° RADAR</a:t>
            </a:r>
          </a:p>
          <a:p>
            <a:pPr>
              <a:defRPr sz="720">
                <a:solidFill>
                  <a:srgbClr val="1E293B"/>
                </a:solidFill>
                <a:latin typeface="Aptos"/>
              </a:defRPr>
            </a:pPr>
            <a:r>
              <a:t>Full torso perimeter coverage</a:t>
            </a:r>
            <a:br/>
            <a:r>
              <a:t>via 8 radial sensor nodes</a:t>
            </a:r>
          </a:p>
        </p:txBody>
      </p:sp>
      <p:sp>
        <p:nvSpPr>
          <p:cNvPr id="11" name="Rounded Rectangle 10"/>
          <p:cNvSpPr/>
          <p:nvPr/>
        </p:nvSpPr>
        <p:spPr>
          <a:xfrm>
            <a:off x="3840480" y="2999232"/>
            <a:ext cx="1645920" cy="10515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850" b="1">
                <a:solidFill>
                  <a:srgbClr val="166534"/>
                </a:solidFill>
                <a:latin typeface="Aptos"/>
              </a:defRPr>
            </a:pPr>
            <a:r>
              <a:t>RESONANT HAPTICS</a:t>
            </a:r>
          </a:p>
          <a:p>
            <a:pPr>
              <a:defRPr sz="720">
                <a:solidFill>
                  <a:srgbClr val="1E293B"/>
                </a:solidFill>
                <a:latin typeface="Aptos"/>
              </a:defRPr>
            </a:pPr>
            <a:r>
              <a:t>205 Hz tactile distance-to-cadence</a:t>
            </a:r>
            <a:br/>
            <a:r>
              <a:t>intuitive abdominal pulses</a:t>
            </a:r>
          </a:p>
        </p:txBody>
      </p:sp>
      <p:sp>
        <p:nvSpPr>
          <p:cNvPr id="12" name="Rounded Rectangle 11"/>
          <p:cNvSpPr/>
          <p:nvPr/>
        </p:nvSpPr>
        <p:spPr>
          <a:xfrm>
            <a:off x="5577840" y="2999232"/>
            <a:ext cx="1645920" cy="10515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850" b="1">
                <a:solidFill>
                  <a:srgbClr val="166534"/>
                </a:solidFill>
                <a:latin typeface="Aptos"/>
              </a:defRPr>
            </a:pPr>
            <a:r>
              <a:t>HANDS-FREE BELT</a:t>
            </a:r>
          </a:p>
          <a:p>
            <a:pPr>
              <a:defRPr sz="720">
                <a:solidFill>
                  <a:srgbClr val="1E293B"/>
                </a:solidFill>
                <a:latin typeface="Aptos"/>
              </a:defRPr>
            </a:pPr>
            <a:r>
              <a:t>Ergonomic wearable waistband;</a:t>
            </a:r>
            <a:br/>
            <a:r>
              <a:t>preserves cane for ground path</a:t>
            </a:r>
          </a:p>
        </p:txBody>
      </p:sp>
      <p:pic>
        <p:nvPicPr>
          <p:cNvPr id="13" name="Picture 12" descr="theme2_before_cane.jpg"/>
          <p:cNvPicPr>
            <a:picLocks noChangeAspect="1"/>
          </p:cNvPicPr>
          <p:nvPr/>
        </p:nvPicPr>
        <p:blipFill>
          <a:blip r:embed="rId4"/>
          <a:stretch>
            <a:fillRect/>
          </a:stretch>
        </p:blipFill>
        <p:spPr>
          <a:xfrm>
            <a:off x="365760" y="4160520"/>
            <a:ext cx="6858000" cy="1280160"/>
          </a:xfrm>
          <a:prstGeom prst="rect">
            <a:avLst/>
          </a:prstGeom>
        </p:spPr>
      </p:pic>
      <p:sp>
        <p:nvSpPr>
          <p:cNvPr id="14" name="Rounded Rectangle 13"/>
          <p:cNvSpPr/>
          <p:nvPr/>
        </p:nvSpPr>
        <p:spPr>
          <a:xfrm>
            <a:off x="7406640" y="777240"/>
            <a:ext cx="438912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D97706"/>
                </a:solidFill>
                <a:latin typeface="Aptos"/>
              </a:defRPr>
            </a:pPr>
            <a:r>
              <a:t>✦ Undetected Upper-Body Hazards</a:t>
            </a:r>
          </a:p>
          <a:p>
            <a:pPr>
              <a:defRPr sz="780">
                <a:solidFill>
                  <a:srgbClr val="1E293B"/>
                </a:solidFill>
                <a:latin typeface="Aptos"/>
              </a:defRPr>
            </a:pPr>
            <a:r>
              <a:t>Standard white canes only sweep the ground plane, missing overhead tree branches, commercial shop awnings, open casement windows, and projecting truck cargo beds.</a:t>
            </a:r>
          </a:p>
        </p:txBody>
      </p:sp>
      <p:sp>
        <p:nvSpPr>
          <p:cNvPr id="15" name="Rounded Rectangle 14"/>
          <p:cNvSpPr/>
          <p:nvPr/>
        </p:nvSpPr>
        <p:spPr>
          <a:xfrm>
            <a:off x="7406640" y="1709928"/>
            <a:ext cx="438912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DC2626"/>
                </a:solidFill>
                <a:latin typeface="Aptos"/>
              </a:defRPr>
            </a:pPr>
            <a:r>
              <a:t>● Audio Inaccessibility</a:t>
            </a:r>
          </a:p>
          <a:p>
            <a:pPr>
              <a:defRPr sz="780">
                <a:solidFill>
                  <a:srgbClr val="1E293B"/>
                </a:solidFill>
                <a:latin typeface="Aptos"/>
              </a:defRPr>
            </a:pPr>
            <a:r>
              <a:t>Acoustic smart canes rely on audio beeps or bone conduction, which completely fail for deaf-blind individuals suffering profound sensorineural hearing loss.</a:t>
            </a:r>
          </a:p>
        </p:txBody>
      </p:sp>
      <p:sp>
        <p:nvSpPr>
          <p:cNvPr id="16" name="Rounded Rectangle 15"/>
          <p:cNvSpPr/>
          <p:nvPr/>
        </p:nvSpPr>
        <p:spPr>
          <a:xfrm>
            <a:off x="7406640" y="2642616"/>
            <a:ext cx="438912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0070AE"/>
                </a:solidFill>
                <a:latin typeface="Aptos"/>
              </a:defRPr>
            </a:pPr>
            <a:r>
              <a:t>◎ Limited Spatial Awareness</a:t>
            </a:r>
          </a:p>
          <a:p>
            <a:pPr>
              <a:defRPr sz="780">
                <a:solidFill>
                  <a:srgbClr val="1E293B"/>
                </a:solidFill>
                <a:latin typeface="Aptos"/>
              </a:defRPr>
            </a:pPr>
            <a:r>
              <a:t>Existing handheld assistive devices only cover a narrow forward cone (1.0–1.5 m); they do not provide 360° peripheral awareness around the user's torso.</a:t>
            </a:r>
          </a:p>
        </p:txBody>
      </p:sp>
      <p:sp>
        <p:nvSpPr>
          <p:cNvPr id="17" name="Rounded Rectangle 16"/>
          <p:cNvSpPr/>
          <p:nvPr/>
        </p:nvSpPr>
        <p:spPr>
          <a:xfrm>
            <a:off x="7406640" y="3575304"/>
            <a:ext cx="438912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DC2626"/>
                </a:solidFill>
                <a:latin typeface="Aptos"/>
              </a:defRPr>
            </a:pPr>
            <a:r>
              <a:t>! Reduced Mobility Confidence</a:t>
            </a:r>
          </a:p>
          <a:p>
            <a:pPr>
              <a:defRPr sz="780">
                <a:solidFill>
                  <a:srgbClr val="1E293B"/>
                </a:solidFill>
                <a:latin typeface="Aptos"/>
              </a:defRPr>
            </a:pPr>
            <a:r>
              <a:t>Frequent upper-body collisions cause facial lacerations, blunt-force head trauma, severe hesitation, and complete withdrawal from outdoor independent mobility.</a:t>
            </a:r>
          </a:p>
        </p:txBody>
      </p:sp>
      <p:sp>
        <p:nvSpPr>
          <p:cNvPr id="18" name="Rounded Rectangle 17"/>
          <p:cNvSpPr/>
          <p:nvPr/>
        </p:nvSpPr>
        <p:spPr>
          <a:xfrm>
            <a:off x="7406640" y="4507992"/>
            <a:ext cx="438912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166534"/>
                </a:solidFill>
                <a:latin typeface="Aptos"/>
              </a:defRPr>
            </a:pPr>
            <a:r>
              <a:t>₹ Accessibility &amp; High Cost Barrier</a:t>
            </a:r>
          </a:p>
          <a:p>
            <a:pPr>
              <a:defRPr sz="780">
                <a:solidFill>
                  <a:srgbClr val="1E293B"/>
                </a:solidFill>
                <a:latin typeface="Aptos"/>
              </a:defRPr>
            </a:pPr>
            <a:r>
              <a:t>Imported haptic vests cost ₹1,20,000+ and are bulky; an affordable (₹9,500 prototype / ₹4,500 retail target), low-power wearable belt is urgently needed.</a:t>
            </a:r>
          </a:p>
        </p:txBody>
      </p:sp>
      <p:sp>
        <p:nvSpPr>
          <p:cNvPr id="19" name="Rounded Rectangle 18"/>
          <p:cNvSpPr/>
          <p:nvPr/>
        </p:nvSpPr>
        <p:spPr>
          <a:xfrm>
            <a:off x="365760" y="5532120"/>
            <a:ext cx="2194560" cy="1143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defRPr sz="800" b="1">
                <a:solidFill>
                  <a:srgbClr val="1A3670"/>
                </a:solidFill>
                <a:latin typeface="Aptos"/>
              </a:defRPr>
            </a:pPr>
            <a:r>
              <a:t>DEAF-BLIND INDIVIDUALS</a:t>
            </a:r>
          </a:p>
          <a:p>
            <a:pPr>
              <a:defRPr sz="720">
                <a:solidFill>
                  <a:srgbClr val="1E293B"/>
                </a:solidFill>
                <a:latin typeface="Aptos"/>
              </a:defRPr>
            </a:pPr>
            <a:r>
              <a:t>Over 450,000 in India needing non-visual, non-auditory collision protection.</a:t>
            </a:r>
          </a:p>
        </p:txBody>
      </p:sp>
      <p:sp>
        <p:nvSpPr>
          <p:cNvPr id="20" name="Rounded Rectangle 19"/>
          <p:cNvSpPr/>
          <p:nvPr/>
        </p:nvSpPr>
        <p:spPr>
          <a:xfrm>
            <a:off x="2651760" y="5532120"/>
            <a:ext cx="2194560" cy="1143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defRPr sz="800" b="1">
                <a:solidFill>
                  <a:srgbClr val="1A3670"/>
                </a:solidFill>
                <a:latin typeface="Aptos"/>
              </a:defRPr>
            </a:pPr>
            <a:r>
              <a:t>VISUALLY &amp; HEARING IMPAIRED</a:t>
            </a:r>
          </a:p>
          <a:p>
            <a:pPr>
              <a:defRPr sz="720">
                <a:solidFill>
                  <a:srgbClr val="1E293B"/>
                </a:solidFill>
                <a:latin typeface="Aptos"/>
              </a:defRPr>
            </a:pPr>
            <a:r>
              <a:t>Adults with combined low-vision and age-related presbycusis.</a:t>
            </a:r>
          </a:p>
        </p:txBody>
      </p:sp>
      <p:sp>
        <p:nvSpPr>
          <p:cNvPr id="21" name="Rounded Rectangle 20"/>
          <p:cNvSpPr/>
          <p:nvPr/>
        </p:nvSpPr>
        <p:spPr>
          <a:xfrm>
            <a:off x="4937760" y="5532120"/>
            <a:ext cx="2194560" cy="1143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defRPr sz="800" b="1">
                <a:solidFill>
                  <a:srgbClr val="1A3670"/>
                </a:solidFill>
                <a:latin typeface="Aptos"/>
              </a:defRPr>
            </a:pPr>
            <a:r>
              <a:t>O&amp;M MOBILITY TRAINERS</a:t>
            </a:r>
          </a:p>
          <a:p>
            <a:pPr>
              <a:defRPr sz="720">
                <a:solidFill>
                  <a:srgbClr val="1E293B"/>
                </a:solidFill>
                <a:latin typeface="Aptos"/>
              </a:defRPr>
            </a:pPr>
            <a:r>
              <a:t>EnAble India &amp; Blind Associations training independent navigation.</a:t>
            </a:r>
          </a:p>
        </p:txBody>
      </p:sp>
      <p:sp>
        <p:nvSpPr>
          <p:cNvPr id="22" name="Rounded Rectangle 21"/>
          <p:cNvSpPr/>
          <p:nvPr/>
        </p:nvSpPr>
        <p:spPr>
          <a:xfrm>
            <a:off x="7223760" y="5532120"/>
            <a:ext cx="4572000" cy="1143000"/>
          </a:xfrm>
          <a:prstGeom prst="roundRect">
            <a:avLst/>
          </a:prstGeom>
          <a:solidFill>
            <a:srgbClr val="EFF6FF"/>
          </a:solidFill>
          <a:ln w="12700">
            <a:solidFill>
              <a:srgbClr val="0070AE"/>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50" b="1">
                <a:solidFill>
                  <a:srgbClr val="0070AE"/>
                </a:solidFill>
                <a:latin typeface="Aptos"/>
              </a:defRPr>
            </a:pPr>
            <a:r>
              <a:t>THE UNMET NEED STATEMENT</a:t>
            </a:r>
          </a:p>
          <a:p>
            <a:pPr>
              <a:defRPr sz="750">
                <a:solidFill>
                  <a:srgbClr val="1E293B"/>
                </a:solidFill>
                <a:latin typeface="Aptos"/>
              </a:defRPr>
            </a:pPr>
            <a:r>
              <a:t>A wearable, hands-free assistive device that extends obstacle detection beyond the ground plane to protect the upper torso and head, delivers non-auditory directional haptics, and supplements the white cane without sensory overload.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PROPOSED SOLUTION</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INNOVATION &amp; NOVELTY</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713232"/>
            <a:ext cx="11430000" cy="320040"/>
          </a:xfrm>
          <a:prstGeom prst="rect">
            <a:avLst/>
          </a:prstGeom>
          <a:noFill/>
        </p:spPr>
        <p:txBody>
          <a:bodyPr wrap="square" lIns="0" tIns="0">
            <a:spAutoFit/>
          </a:bodyPr>
          <a:lstStyle/>
          <a:p>
            <a:pPr>
              <a:defRPr sz="1100" b="1">
                <a:solidFill>
                  <a:srgbClr val="1A3670"/>
                </a:solidFill>
                <a:latin typeface="Georgia"/>
              </a:defRPr>
            </a:pPr>
            <a:r>
              <a:t>SPATIAL-SENSE: 360° Wearable Haptic-Sonar Assistive System for Upper-Torso &amp; Head-Level Collision Protection</a:t>
            </a:r>
          </a:p>
        </p:txBody>
      </p:sp>
      <p:pic>
        <p:nvPicPr>
          <p:cNvPr id="8" name="Picture 7" descr="spatial_sense_worn.jpg"/>
          <p:cNvPicPr>
            <a:picLocks noChangeAspect="1"/>
          </p:cNvPicPr>
          <p:nvPr/>
        </p:nvPicPr>
        <p:blipFill>
          <a:blip r:embed="rId4"/>
          <a:stretch>
            <a:fillRect/>
          </a:stretch>
        </p:blipFill>
        <p:spPr>
          <a:xfrm>
            <a:off x="2103120" y="1097280"/>
            <a:ext cx="3108960" cy="4206240"/>
          </a:xfrm>
          <a:prstGeom prst="rect">
            <a:avLst/>
          </a:prstGeom>
        </p:spPr>
      </p:pic>
      <p:sp>
        <p:nvSpPr>
          <p:cNvPr id="9" name="Rounded Rectangle 8"/>
          <p:cNvSpPr/>
          <p:nvPr/>
        </p:nvSpPr>
        <p:spPr>
          <a:xfrm>
            <a:off x="365760" y="1097280"/>
            <a:ext cx="169164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780" b="1">
                <a:solidFill>
                  <a:srgbClr val="1A3670"/>
                </a:solidFill>
                <a:latin typeface="Aptos"/>
              </a:defRPr>
            </a:pPr>
            <a:r>
              <a:t>8x VL53L1X ToF SENSORS</a:t>
            </a:r>
          </a:p>
          <a:p>
            <a:pPr>
              <a:defRPr sz="680">
                <a:solidFill>
                  <a:srgbClr val="1E293B"/>
                </a:solidFill>
                <a:latin typeface="Aptos"/>
              </a:defRPr>
            </a:pPr>
            <a:r>
              <a:t>4x at 0° waist level + 4x at +25° head level; 940nm Class-1 eye-safe LiDAR.</a:t>
            </a:r>
          </a:p>
        </p:txBody>
      </p:sp>
      <p:sp>
        <p:nvSpPr>
          <p:cNvPr id="10" name="Rounded Rectangle 9"/>
          <p:cNvSpPr/>
          <p:nvPr/>
        </p:nvSpPr>
        <p:spPr>
          <a:xfrm>
            <a:off x="365760" y="2148839"/>
            <a:ext cx="169164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780" b="1">
                <a:solidFill>
                  <a:srgbClr val="1A3670"/>
                </a:solidFill>
                <a:latin typeface="Aptos"/>
              </a:defRPr>
            </a:pPr>
            <a:r>
              <a:t>ESP32-S3 CONTROLLER</a:t>
            </a:r>
          </a:p>
          <a:p>
            <a:pPr>
              <a:defRPr sz="680">
                <a:solidFill>
                  <a:srgbClr val="1E293B"/>
                </a:solidFill>
                <a:latin typeface="Aptos"/>
              </a:defRPr>
            </a:pPr>
            <a:r>
              <a:t>Dual-core 240MHz MCU; Core 0 sensor DSP, Core 1 haptics, ULP sleep manager.</a:t>
            </a:r>
          </a:p>
        </p:txBody>
      </p:sp>
      <p:sp>
        <p:nvSpPr>
          <p:cNvPr id="11" name="Rounded Rectangle 10"/>
          <p:cNvSpPr/>
          <p:nvPr/>
        </p:nvSpPr>
        <p:spPr>
          <a:xfrm>
            <a:off x="365760" y="3200400"/>
            <a:ext cx="169164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780" b="1">
                <a:solidFill>
                  <a:srgbClr val="1A3670"/>
                </a:solidFill>
                <a:latin typeface="Aptos"/>
              </a:defRPr>
            </a:pPr>
            <a:r>
              <a:t>TCA9548A I²C MUX</a:t>
            </a:r>
          </a:p>
          <a:p>
            <a:pPr>
              <a:defRPr sz="680">
                <a:solidFill>
                  <a:srgbClr val="1E293B"/>
                </a:solidFill>
                <a:latin typeface="Aptos"/>
              </a:defRPr>
            </a:pPr>
            <a:r>
              <a:t>8-channel multiplexer; executes interleaved 4ms phase firing schedule.</a:t>
            </a:r>
          </a:p>
        </p:txBody>
      </p:sp>
      <p:sp>
        <p:nvSpPr>
          <p:cNvPr id="12" name="Rounded Rectangle 11"/>
          <p:cNvSpPr/>
          <p:nvPr/>
        </p:nvSpPr>
        <p:spPr>
          <a:xfrm>
            <a:off x="365760" y="4251959"/>
            <a:ext cx="169164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780" b="1">
                <a:solidFill>
                  <a:srgbClr val="1A3670"/>
                </a:solidFill>
                <a:latin typeface="Aptos"/>
              </a:defRPr>
            </a:pPr>
            <a:r>
              <a:t>BMI160 6-DOF IMU</a:t>
            </a:r>
          </a:p>
          <a:p>
            <a:pPr>
              <a:defRPr sz="680">
                <a:solidFill>
                  <a:srgbClr val="1E293B"/>
                </a:solidFill>
                <a:latin typeface="Aptos"/>
              </a:defRPr>
            </a:pPr>
            <a:r>
              <a:t>6-axis motion sensing; enables 15µA light sleep and 5ms step wake-up.</a:t>
            </a:r>
          </a:p>
        </p:txBody>
      </p:sp>
      <p:sp>
        <p:nvSpPr>
          <p:cNvPr id="13" name="Rounded Rectangle 12"/>
          <p:cNvSpPr/>
          <p:nvPr/>
        </p:nvSpPr>
        <p:spPr>
          <a:xfrm>
            <a:off x="5257800" y="1097280"/>
            <a:ext cx="169164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780" b="1">
                <a:solidFill>
                  <a:srgbClr val="1A3670"/>
                </a:solidFill>
                <a:latin typeface="Aptos"/>
              </a:defRPr>
            </a:pPr>
            <a:r>
              <a:t>8x DRV2605L DRIVERS</a:t>
            </a:r>
          </a:p>
          <a:p>
            <a:pPr>
              <a:defRPr sz="680">
                <a:solidFill>
                  <a:srgbClr val="1E293B"/>
                </a:solidFill>
                <a:latin typeface="Aptos"/>
              </a:defRPr>
            </a:pPr>
            <a:r>
              <a:t>Dedicated I²C bus control, auto-resonance calibration, 150mA current limit.</a:t>
            </a:r>
          </a:p>
        </p:txBody>
      </p:sp>
      <p:sp>
        <p:nvSpPr>
          <p:cNvPr id="14" name="Rounded Rectangle 13"/>
          <p:cNvSpPr/>
          <p:nvPr/>
        </p:nvSpPr>
        <p:spPr>
          <a:xfrm>
            <a:off x="5257800" y="2148839"/>
            <a:ext cx="169164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780" b="1">
                <a:solidFill>
                  <a:srgbClr val="1A3670"/>
                </a:solidFill>
                <a:latin typeface="Aptos"/>
              </a:defRPr>
            </a:pPr>
            <a:r>
              <a:t>8x 205Hz LRAs</a:t>
            </a:r>
          </a:p>
          <a:p>
            <a:pPr>
              <a:defRPr sz="680">
                <a:solidFill>
                  <a:srgbClr val="1E293B"/>
                </a:solidFill>
                <a:latin typeface="Aptos"/>
              </a:defRPr>
            </a:pPr>
            <a:r>
              <a:t>Linear resonant coin actuators; 2.2G peak tactile acceleration; 5ms rise time.</a:t>
            </a:r>
          </a:p>
        </p:txBody>
      </p:sp>
      <p:sp>
        <p:nvSpPr>
          <p:cNvPr id="15" name="Rounded Rectangle 14"/>
          <p:cNvSpPr/>
          <p:nvPr/>
        </p:nvSpPr>
        <p:spPr>
          <a:xfrm>
            <a:off x="5257800" y="3200400"/>
            <a:ext cx="169164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780" b="1">
                <a:solidFill>
                  <a:srgbClr val="1A3670"/>
                </a:solidFill>
                <a:latin typeface="Aptos"/>
              </a:defRPr>
            </a:pPr>
            <a:r>
              <a:t>MODULAR TPU PODS</a:t>
            </a:r>
          </a:p>
          <a:p>
            <a:pPr>
              <a:defRPr sz="680">
                <a:solidFill>
                  <a:srgbClr val="1E293B"/>
                </a:solidFill>
                <a:latin typeface="Aptos"/>
              </a:defRPr>
            </a:pPr>
            <a:r>
              <a:t>Silicone-lined IP54 pods; ergonomic neoprene belt; skin temp &lt;34.5°C.</a:t>
            </a:r>
          </a:p>
        </p:txBody>
      </p:sp>
      <p:sp>
        <p:nvSpPr>
          <p:cNvPr id="16" name="Rounded Rectangle 15"/>
          <p:cNvSpPr/>
          <p:nvPr/>
        </p:nvSpPr>
        <p:spPr>
          <a:xfrm>
            <a:off x="5257800" y="4251959"/>
            <a:ext cx="169164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780" b="1">
                <a:solidFill>
                  <a:srgbClr val="1A3670"/>
                </a:solidFill>
                <a:latin typeface="Aptos"/>
              </a:defRPr>
            </a:pPr>
            <a:r>
              <a:t>3.7V 2500mAh Li-ion</a:t>
            </a:r>
          </a:p>
          <a:p>
            <a:pPr>
              <a:defRPr sz="680">
                <a:solidFill>
                  <a:srgbClr val="1E293B"/>
                </a:solidFill>
                <a:latin typeface="Aptos"/>
              </a:defRPr>
            </a:pPr>
            <a:r>
              <a:t>Hardware BMS with OVP/UVP/OCP; accessible USB-C charging interface.</a:t>
            </a:r>
          </a:p>
        </p:txBody>
      </p:sp>
      <p:sp>
        <p:nvSpPr>
          <p:cNvPr id="17" name="Rounded Rectangle 16"/>
          <p:cNvSpPr/>
          <p:nvPr/>
        </p:nvSpPr>
        <p:spPr>
          <a:xfrm>
            <a:off x="7132320" y="1097280"/>
            <a:ext cx="466344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0070AE"/>
                </a:solidFill>
                <a:latin typeface="Aptos"/>
              </a:defRPr>
            </a:pPr>
            <a:r>
              <a:t>1. Dual-Elevation Spatial Sensing</a:t>
            </a:r>
          </a:p>
          <a:p>
            <a:pPr>
              <a:defRPr sz="750">
                <a:solidFill>
                  <a:srgbClr val="1E293B"/>
                </a:solidFill>
                <a:latin typeface="Aptos"/>
              </a:defRPr>
            </a:pPr>
            <a:r>
              <a:t>Four horizontal sensors at 0° scan parallel to ground for waist-level obstacles (walls, pedestrians), while four alternating sensors tilted upward at +25° project a protective cone up to 2.1 m height to detect overhead tree limbs, awnings, and signs.</a:t>
            </a:r>
          </a:p>
        </p:txBody>
      </p:sp>
      <p:sp>
        <p:nvSpPr>
          <p:cNvPr id="18" name="Rounded Rectangle 17"/>
          <p:cNvSpPr/>
          <p:nvPr/>
        </p:nvSpPr>
        <p:spPr>
          <a:xfrm>
            <a:off x="7132320" y="1956815"/>
            <a:ext cx="466344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166534"/>
                </a:solidFill>
                <a:latin typeface="Aptos"/>
              </a:defRPr>
            </a:pPr>
            <a:r>
              <a:t>2. Full 360° Surrounding Tactile Perimeter</a:t>
            </a:r>
          </a:p>
          <a:p>
            <a:pPr>
              <a:defRPr sz="750">
                <a:solidFill>
                  <a:srgbClr val="1E293B"/>
                </a:solidFill>
                <a:latin typeface="Aptos"/>
              </a:defRPr>
            </a:pPr>
            <a:r>
              <a:t>Eight sensors spaced at 45° intervals provide complete surround obstacle awareness, mapping environmental vectors directly to corresponding localized haptic nodes on the user's torso.</a:t>
            </a:r>
          </a:p>
        </p:txBody>
      </p:sp>
      <p:sp>
        <p:nvSpPr>
          <p:cNvPr id="19" name="Rounded Rectangle 18"/>
          <p:cNvSpPr/>
          <p:nvPr/>
        </p:nvSpPr>
        <p:spPr>
          <a:xfrm>
            <a:off x="7132320" y="2816352"/>
            <a:ext cx="466344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1A3670"/>
                </a:solidFill>
                <a:latin typeface="Aptos"/>
              </a:defRPr>
            </a:pPr>
            <a:r>
              <a:t>3. Deterministic Hard Real-Time Processing</a:t>
            </a:r>
          </a:p>
          <a:p>
            <a:pPr>
              <a:defRPr sz="750">
                <a:solidFill>
                  <a:srgbClr val="1E293B"/>
                </a:solidFill>
                <a:latin typeface="Aptos"/>
              </a:defRPr>
            </a:pPr>
            <a:r>
              <a:t>The ESP32-S3 performs non-blocking I²C sensor scheduling, median distance filtering, and haptic modulation in deterministic DSP—achieving &lt;15 ms end-to-end latency without latency-heavy neural networks.</a:t>
            </a:r>
          </a:p>
        </p:txBody>
      </p:sp>
      <p:sp>
        <p:nvSpPr>
          <p:cNvPr id="20" name="Rounded Rectangle 19"/>
          <p:cNvSpPr/>
          <p:nvPr/>
        </p:nvSpPr>
        <p:spPr>
          <a:xfrm>
            <a:off x="7132320" y="3675887"/>
            <a:ext cx="466344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D97706"/>
                </a:solidFill>
                <a:latin typeface="Aptos"/>
              </a:defRPr>
            </a:pPr>
            <a:r>
              <a:t>4. Resonant Haptic Actuation &amp; Distance Cadence</a:t>
            </a:r>
          </a:p>
          <a:p>
            <a:pPr>
              <a:defRPr sz="750">
                <a:solidFill>
                  <a:srgbClr val="1E293B"/>
                </a:solidFill>
                <a:latin typeface="Aptos"/>
              </a:defRPr>
            </a:pPr>
            <a:r>
              <a:t>Eight DRV2605L-driven LRAs operate strictly at mechanical resonance (205 Hz ± 3 Hz) for crisp tactile transients. Distance maps to pulse repetition cadence: 1.2 s pulse at 2.5 m accelerating smoothly to a 12 Hz urgent burst at 0.4 m.</a:t>
            </a:r>
          </a:p>
        </p:txBody>
      </p:sp>
      <p:sp>
        <p:nvSpPr>
          <p:cNvPr id="21" name="Rounded Rectangle 20"/>
          <p:cNvSpPr/>
          <p:nvPr/>
        </p:nvSpPr>
        <p:spPr>
          <a:xfrm>
            <a:off x="7132320" y="4535424"/>
            <a:ext cx="466344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0070AE"/>
                </a:solidFill>
                <a:latin typeface="Aptos"/>
              </a:defRPr>
            </a:pPr>
            <a:r>
              <a:t>5. Accessibility-First Offline Operation</a:t>
            </a:r>
          </a:p>
          <a:p>
            <a:pPr>
              <a:defRPr sz="750">
                <a:solidFill>
                  <a:srgbClr val="1E293B"/>
                </a:solidFill>
                <a:latin typeface="Aptos"/>
              </a:defRPr>
            </a:pPr>
            <a:r>
              <a:t>100% non-visual, non-auditory primary alerts. Features a zero-sight hardware self-test (double-tap triggers clockwise sweep) and an offline BLE companion app with TalkBack/VoiceOver and O&amp;M trainer mirror.</a:t>
            </a:r>
          </a:p>
        </p:txBody>
      </p:sp>
      <p:sp>
        <p:nvSpPr>
          <p:cNvPr id="22" name="Rounded Rectangle 21"/>
          <p:cNvSpPr/>
          <p:nvPr/>
        </p:nvSpPr>
        <p:spPr>
          <a:xfrm>
            <a:off x="365760" y="5486400"/>
            <a:ext cx="11430000" cy="777240"/>
          </a:xfrm>
          <a:prstGeom prst="roundRect">
            <a:avLst/>
          </a:prstGeom>
          <a:solidFill>
            <a:srgbClr val="F1F5F9"/>
          </a:solidFill>
          <a:ln w="12700">
            <a:solidFill>
              <a:srgbClr val="0070AE"/>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000" b="1">
                <a:solidFill>
                  <a:srgbClr val="1A3670"/>
                </a:solidFill>
                <a:latin typeface="Georgia"/>
              </a:defRPr>
            </a:pPr>
            <a:r>
              <a:t>“SPATIAL-SENSE extends obstacle awareness beyond the ground plane by combining dual-elevation optical sensing with spatially localized tactile feedback—enabling hands-free, dignified independent navigation for deaf-blind individuals.”</a:t>
            </a:r>
          </a:p>
          <a:p>
            <a:pPr>
              <a:defRPr sz="720">
                <a:solidFill>
                  <a:srgbClr val="64748B"/>
                </a:solidFill>
                <a:latin typeface="Aptos"/>
              </a:defRPr>
            </a:pPr>
            <a:r>
              <a:t>Note: Wearable illustrations represent proposed concept renders; functional specifications and performance metrics reflect engineering targets to be validated.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USER JOURNEY</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BEFORE-TO-AFTER MOBILITY IMPACT</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85800"/>
            <a:ext cx="11430000" cy="274320"/>
          </a:xfrm>
          <a:prstGeom prst="rect">
            <a:avLst/>
          </a:prstGeom>
          <a:noFill/>
        </p:spPr>
        <p:txBody>
          <a:bodyPr wrap="square" lIns="0" tIns="0">
            <a:spAutoFit/>
          </a:bodyPr>
          <a:lstStyle/>
          <a:p>
            <a:pPr>
              <a:defRPr sz="950" b="1">
                <a:solidFill>
                  <a:srgbClr val="0070AE"/>
                </a:solidFill>
                <a:latin typeface="Aptos"/>
              </a:defRPr>
            </a:pPr>
            <a:r>
              <a:t>FROM GROUND-LEVEL CANE DETECTION TO 360° TACTILE OBSTACLE AWARENESS</a:t>
            </a:r>
          </a:p>
        </p:txBody>
      </p:sp>
      <p:sp>
        <p:nvSpPr>
          <p:cNvPr id="8" name="Rounded Rectangle 7"/>
          <p:cNvSpPr/>
          <p:nvPr/>
        </p:nvSpPr>
        <p:spPr>
          <a:xfrm>
            <a:off x="365760" y="1005840"/>
            <a:ext cx="1920240" cy="777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1100" b="1">
                <a:solidFill>
                  <a:srgbClr val="1A3670"/>
                </a:solidFill>
                <a:latin typeface="Georgia"/>
              </a:defRPr>
            </a:pPr>
            <a:r>
              <a:t>8 ToF SENSORS</a:t>
            </a:r>
          </a:p>
          <a:p>
            <a:pPr>
              <a:defRPr sz="720">
                <a:solidFill>
                  <a:srgbClr val="1E293B"/>
                </a:solidFill>
                <a:latin typeface="Aptos"/>
              </a:defRPr>
            </a:pPr>
            <a:r>
              <a:t>Dual elevation planes</a:t>
            </a:r>
            <a:br/>
            <a:r>
              <a:t>(0° waist + 25° head level)</a:t>
            </a:r>
          </a:p>
        </p:txBody>
      </p:sp>
      <p:sp>
        <p:nvSpPr>
          <p:cNvPr id="9" name="Rounded Rectangle 8"/>
          <p:cNvSpPr/>
          <p:nvPr/>
        </p:nvSpPr>
        <p:spPr>
          <a:xfrm>
            <a:off x="2423160" y="1005840"/>
            <a:ext cx="1920240" cy="777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1100" b="1">
                <a:solidFill>
                  <a:srgbClr val="1A3670"/>
                </a:solidFill>
                <a:latin typeface="Georgia"/>
              </a:defRPr>
            </a:pPr>
            <a:r>
              <a:t>360° PERIMETER</a:t>
            </a:r>
          </a:p>
          <a:p>
            <a:pPr>
              <a:defRPr sz="720">
                <a:solidFill>
                  <a:srgbClr val="1E293B"/>
                </a:solidFill>
                <a:latin typeface="Aptos"/>
              </a:defRPr>
            </a:pPr>
            <a:r>
              <a:t>Complete surround coverage</a:t>
            </a:r>
            <a:br/>
            <a:r>
              <a:t>via 8 radial body nodes</a:t>
            </a:r>
          </a:p>
        </p:txBody>
      </p:sp>
      <p:sp>
        <p:nvSpPr>
          <p:cNvPr id="10" name="Rounded Rectangle 9"/>
          <p:cNvSpPr/>
          <p:nvPr/>
        </p:nvSpPr>
        <p:spPr>
          <a:xfrm>
            <a:off x="4480560" y="1005840"/>
            <a:ext cx="1920240" cy="777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1100" b="1">
                <a:solidFill>
                  <a:srgbClr val="1A3670"/>
                </a:solidFill>
                <a:latin typeface="Georgia"/>
              </a:defRPr>
            </a:pPr>
            <a:r>
              <a:t>15 Hz REFRESH</a:t>
            </a:r>
          </a:p>
          <a:p>
            <a:pPr>
              <a:defRPr sz="720">
                <a:solidFill>
                  <a:srgbClr val="1E293B"/>
                </a:solidFill>
                <a:latin typeface="Aptos"/>
              </a:defRPr>
            </a:pPr>
            <a:r>
              <a:t>Interleaved 4ms phase offsets</a:t>
            </a:r>
            <a:br/>
            <a:r>
              <a:t>zero optical crosstalk</a:t>
            </a:r>
          </a:p>
        </p:txBody>
      </p:sp>
      <p:sp>
        <p:nvSpPr>
          <p:cNvPr id="11" name="Rounded Rectangle 10"/>
          <p:cNvSpPr/>
          <p:nvPr/>
        </p:nvSpPr>
        <p:spPr>
          <a:xfrm>
            <a:off x="6537960" y="1005840"/>
            <a:ext cx="1920240" cy="777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wrap="square"/>
          <a:lstStyle/>
          <a:p>
            <a:pPr algn="ctr">
              <a:defRPr sz="1100" b="1">
                <a:solidFill>
                  <a:srgbClr val="1A3670"/>
                </a:solidFill>
                <a:latin typeface="Georgia"/>
              </a:defRPr>
            </a:pPr>
            <a:r>
              <a:t>&lt; 15 ms LATENCY</a:t>
            </a:r>
          </a:p>
          <a:p>
            <a:pPr>
              <a:defRPr sz="720">
                <a:solidFill>
                  <a:srgbClr val="1E293B"/>
                </a:solidFill>
                <a:latin typeface="Aptos"/>
              </a:defRPr>
            </a:pPr>
            <a:r>
              <a:t>Deterministic sensor-to-haptic</a:t>
            </a:r>
            <a:br/>
            <a:r>
              <a:t>real-time DSP response</a:t>
            </a:r>
          </a:p>
        </p:txBody>
      </p:sp>
      <p:sp>
        <p:nvSpPr>
          <p:cNvPr id="12" name="Rounded Rectangle 11"/>
          <p:cNvSpPr/>
          <p:nvPr/>
        </p:nvSpPr>
        <p:spPr>
          <a:xfrm>
            <a:off x="365760" y="1874519"/>
            <a:ext cx="3931920" cy="329184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900" b="1">
                <a:solidFill>
                  <a:srgbClr val="DC2626"/>
                </a:solidFill>
                <a:latin typeface="Aptos"/>
              </a:defRPr>
            </a:pPr>
            <a:r>
              <a:t>BEFORE | CONVENTIONAL WHITE CANE ALONE</a:t>
            </a:r>
          </a:p>
          <a:p>
            <a:br/>
            <a:br/>
            <a:br/>
            <a:br/>
            <a:br/>
            <a:br/>
            <a:br/>
            <a:pPr>
              <a:defRPr sz="750">
                <a:solidFill>
                  <a:srgbClr val="1E293B"/>
                </a:solidFill>
                <a:latin typeface="Aptos"/>
              </a:defRPr>
            </a:pPr>
            <a:r>
              <a:t>• Scenario: Navigating a busy footpath. 15m ahead, an iron shop awning hangs at 1.4m chest height, with a low tree limb at 1.75m.</a:t>
            </a:r>
            <a:br/>
            <a:r>
              <a:t>• Limitation: Cane tip sweeps pavement (clear). Upper torso &amp; forehead completely unprotected.</a:t>
            </a:r>
            <a:br/>
            <a:r>
              <a:t>• Result: Forehead strikes rigid metal corner at 0m. Facial laceration, blunt trauma, severe disorientation, and loss of walking confidence.</a:t>
            </a:r>
          </a:p>
        </p:txBody>
      </p:sp>
      <p:pic>
        <p:nvPicPr>
          <p:cNvPr id="13" name="Picture 12" descr="theme2_before_cane.jpg"/>
          <p:cNvPicPr>
            <a:picLocks noChangeAspect="1"/>
          </p:cNvPicPr>
          <p:nvPr/>
        </p:nvPicPr>
        <p:blipFill>
          <a:blip r:embed="rId4"/>
          <a:stretch>
            <a:fillRect/>
          </a:stretch>
        </p:blipFill>
        <p:spPr>
          <a:xfrm>
            <a:off x="502920" y="2148840"/>
            <a:ext cx="3657600" cy="1645920"/>
          </a:xfrm>
          <a:prstGeom prst="rect">
            <a:avLst/>
          </a:prstGeom>
        </p:spPr>
      </p:pic>
      <p:sp>
        <p:nvSpPr>
          <p:cNvPr id="14" name="Rounded Rectangle 13"/>
          <p:cNvSpPr/>
          <p:nvPr/>
        </p:nvSpPr>
        <p:spPr>
          <a:xfrm>
            <a:off x="4434840" y="1874519"/>
            <a:ext cx="3931920" cy="329184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900" b="1">
                <a:solidFill>
                  <a:srgbClr val="166534"/>
                </a:solidFill>
                <a:latin typeface="Aptos"/>
              </a:defRPr>
            </a:pPr>
            <a:r>
              <a:t>AFTER | SPATIAL-SENSE + WHITE CANE (COMPLEMENTARY)</a:t>
            </a:r>
          </a:p>
          <a:p>
            <a:br/>
            <a:br/>
            <a:br/>
            <a:br/>
            <a:br/>
            <a:br/>
            <a:br/>
            <a:pPr>
              <a:defRPr sz="750">
                <a:solidFill>
                  <a:srgbClr val="1E293B"/>
                </a:solidFill>
                <a:latin typeface="Aptos"/>
              </a:defRPr>
            </a:pPr>
            <a:r>
              <a:t>• Early Detection: At 2.5m, the Front-Right +25° ToF sensor detects the iron awning.</a:t>
            </a:r>
            <a:br/>
            <a:r>
              <a:t>• Tactile Alert: Front-Right LRA delivers gentle 1 Hz pulses to the abdomen.</a:t>
            </a:r>
            <a:br/>
            <a:r>
              <a:t>• Safe Evasion: User extends a protective hand. At 0.8m, cadence accelerates to urgent 8-12 Hz burst. User ducks smoothly around obstacle without bodily impact.</a:t>
            </a:r>
          </a:p>
        </p:txBody>
      </p:sp>
      <p:pic>
        <p:nvPicPr>
          <p:cNvPr id="15" name="Picture 14" descr="theme2_after_spatial_sense.jpg"/>
          <p:cNvPicPr>
            <a:picLocks noChangeAspect="1"/>
          </p:cNvPicPr>
          <p:nvPr/>
        </p:nvPicPr>
        <p:blipFill>
          <a:blip r:embed="rId5"/>
          <a:stretch>
            <a:fillRect/>
          </a:stretch>
        </p:blipFill>
        <p:spPr>
          <a:xfrm>
            <a:off x="4572000" y="2148840"/>
            <a:ext cx="3657600" cy="1645920"/>
          </a:xfrm>
          <a:prstGeom prst="rect">
            <a:avLst/>
          </a:prstGeom>
        </p:spPr>
      </p:pic>
      <p:sp>
        <p:nvSpPr>
          <p:cNvPr id="16" name="Rounded Rectangle 15"/>
          <p:cNvSpPr/>
          <p:nvPr/>
        </p:nvSpPr>
        <p:spPr>
          <a:xfrm>
            <a:off x="8503920" y="1005840"/>
            <a:ext cx="3291840" cy="41605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wrap="square"/>
          <a:lstStyle/>
          <a:p>
            <a:pPr algn="ctr">
              <a:defRPr sz="850" b="1">
                <a:solidFill>
                  <a:srgbClr val="0070AE"/>
                </a:solidFill>
                <a:latin typeface="Aptos"/>
              </a:defRPr>
            </a:pPr>
            <a:r>
              <a:t>TARGET USER PROFILE</a:t>
            </a:r>
          </a:p>
          <a:p>
            <a:pPr>
              <a:defRPr sz="780">
                <a:solidFill>
                  <a:srgbClr val="1E293B"/>
                </a:solidFill>
                <a:latin typeface="Aptos"/>
              </a:defRPr>
            </a:pPr>
            <a:r>
              <a:t>Deaf-blind individuals, persons with low vision &amp; hearing impairment, and O&amp;M mobility trainers.</a:t>
            </a:r>
          </a:p>
          <a:p>
            <a:br/>
            <a:pPr>
              <a:defRPr sz="850" b="1">
                <a:solidFill>
                  <a:srgbClr val="DC2626"/>
                </a:solidFill>
                <a:latin typeface="Aptos"/>
              </a:defRPr>
            </a:pPr>
            <a:r>
              <a:t>CURRENT MOBILITY LIMITATION</a:t>
            </a:r>
          </a:p>
          <a:p>
            <a:pPr>
              <a:defRPr sz="780">
                <a:solidFill>
                  <a:srgbClr val="1E293B"/>
                </a:solidFill>
                <a:latin typeface="Aptos"/>
              </a:defRPr>
            </a:pPr>
            <a:r>
              <a:t>Cane detects only ground obstacles (&lt;0.5m). Upper body strikes average 3.4 collisions per 100m in unfamiliar corridors at baseline walking speed of 0.52 m/s.</a:t>
            </a:r>
          </a:p>
          <a:p>
            <a:br/>
            <a:pPr>
              <a:defRPr sz="850" b="1">
                <a:solidFill>
                  <a:srgbClr val="166534"/>
                </a:solidFill>
                <a:latin typeface="Aptos"/>
              </a:defRPr>
            </a:pPr>
            <a:r>
              <a:t>PROPOSED ACCESSIBILITY ADVANCE</a:t>
            </a:r>
          </a:p>
          <a:p>
            <a:pPr>
              <a:defRPr sz="780">
                <a:solidFill>
                  <a:srgbClr val="1E293B"/>
                </a:solidFill>
                <a:latin typeface="Aptos"/>
              </a:defRPr>
            </a:pPr>
            <a:r>
              <a:t>Hands-free, zero-audio tactile radar supplementing the white cane. Provides 360° dual-elevation hazard perception directly mapped to torso azimuth.</a:t>
            </a:r>
          </a:p>
          <a:p>
            <a:br/>
            <a:pPr>
              <a:defRPr sz="850" b="1">
                <a:solidFill>
                  <a:srgbClr val="1A3670"/>
                </a:solidFill>
                <a:latin typeface="Aptos"/>
              </a:defRPr>
            </a:pPr>
            <a:r>
              <a:t>EXPECTED MOBILITY BENEFIT</a:t>
            </a:r>
          </a:p>
          <a:p>
            <a:pPr>
              <a:defRPr sz="780">
                <a:solidFill>
                  <a:srgbClr val="1E293B"/>
                </a:solidFill>
                <a:latin typeface="Aptos"/>
              </a:defRPr>
            </a:pPr>
            <a:r>
              <a:t>Targets a 35% speed increase (to 0.70 m/s) and zero head-level collisions. Device is designed as a supplementary aid—not replacing the cane.</a:t>
            </a:r>
          </a:p>
        </p:txBody>
      </p:sp>
      <p:sp>
        <p:nvSpPr>
          <p:cNvPr id="17" name="Rounded Rectangle 16"/>
          <p:cNvSpPr/>
          <p:nvPr/>
        </p:nvSpPr>
        <p:spPr>
          <a:xfrm>
            <a:off x="365760" y="5303520"/>
            <a:ext cx="2788920" cy="86868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defRPr sz="850" b="1">
                <a:solidFill>
                  <a:srgbClr val="38BDF8"/>
                </a:solidFill>
                <a:latin typeface="Aptos"/>
              </a:defRPr>
            </a:pPr>
            <a:r>
              <a:t>1. SENSE</a:t>
            </a:r>
          </a:p>
          <a:p>
            <a:pPr>
              <a:defRPr sz="720">
                <a:solidFill>
                  <a:srgbClr val="FFFFFF"/>
                </a:solidFill>
                <a:latin typeface="Aptos"/>
              </a:defRPr>
            </a:pPr>
            <a:r>
              <a:t>ToF LiDARs measure distances</a:t>
            </a:r>
            <a:br/>
            <a:r>
              <a:t>across 0° &amp; +25° dual planes</a:t>
            </a:r>
          </a:p>
        </p:txBody>
      </p:sp>
      <p:sp>
        <p:nvSpPr>
          <p:cNvPr id="18" name="Rounded Rectangle 17"/>
          <p:cNvSpPr/>
          <p:nvPr/>
        </p:nvSpPr>
        <p:spPr>
          <a:xfrm>
            <a:off x="3246120" y="5303520"/>
            <a:ext cx="2788920" cy="86868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defRPr sz="850" b="1">
                <a:solidFill>
                  <a:srgbClr val="38BDF8"/>
                </a:solidFill>
                <a:latin typeface="Aptos"/>
              </a:defRPr>
            </a:pPr>
            <a:r>
              <a:t>2. INTERPRET</a:t>
            </a:r>
          </a:p>
          <a:p>
            <a:pPr>
              <a:defRPr sz="720">
                <a:solidFill>
                  <a:srgbClr val="FFFFFF"/>
                </a:solidFill>
                <a:latin typeface="Aptos"/>
              </a:defRPr>
            </a:pPr>
            <a:r>
              <a:t>ESP32-S3 Core 0 DSP filters</a:t>
            </a:r>
            <a:br/>
            <a:r>
              <a:t>measurements &amp; eliminates dropouts</a:t>
            </a:r>
          </a:p>
        </p:txBody>
      </p:sp>
      <p:sp>
        <p:nvSpPr>
          <p:cNvPr id="19" name="Rounded Rectangle 18"/>
          <p:cNvSpPr/>
          <p:nvPr/>
        </p:nvSpPr>
        <p:spPr>
          <a:xfrm>
            <a:off x="6126480" y="5303520"/>
            <a:ext cx="2788920" cy="86868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defRPr sz="850" b="1">
                <a:solidFill>
                  <a:srgbClr val="38BDF8"/>
                </a:solidFill>
                <a:latin typeface="Aptos"/>
              </a:defRPr>
            </a:pPr>
            <a:r>
              <a:t>3. LOCALIZE</a:t>
            </a:r>
          </a:p>
          <a:p>
            <a:pPr>
              <a:defRPr sz="720">
                <a:solidFill>
                  <a:srgbClr val="FFFFFF"/>
                </a:solidFill>
                <a:latin typeface="Aptos"/>
              </a:defRPr>
            </a:pPr>
            <a:r>
              <a:t>Firmware identifies nearest hazard</a:t>
            </a:r>
            <a:br/>
            <a:r>
              <a:t>&amp; associates radial waist node</a:t>
            </a:r>
          </a:p>
        </p:txBody>
      </p:sp>
      <p:sp>
        <p:nvSpPr>
          <p:cNvPr id="20" name="Rounded Rectangle 19"/>
          <p:cNvSpPr/>
          <p:nvPr/>
        </p:nvSpPr>
        <p:spPr>
          <a:xfrm>
            <a:off x="9006840" y="5303520"/>
            <a:ext cx="2788920" cy="86868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defRPr sz="850" b="1">
                <a:solidFill>
                  <a:srgbClr val="38BDF8"/>
                </a:solidFill>
                <a:latin typeface="Aptos"/>
              </a:defRPr>
            </a:pPr>
            <a:r>
              <a:t>4. ALERT</a:t>
            </a:r>
          </a:p>
          <a:p>
            <a:pPr>
              <a:defRPr sz="720">
                <a:solidFill>
                  <a:srgbClr val="FFFFFF"/>
                </a:solidFill>
                <a:latin typeface="Aptos"/>
              </a:defRPr>
            </a:pPr>
            <a:r>
              <a:t>Core 1 modulates LRA cadence</a:t>
            </a:r>
            <a:br/>
            <a:r>
              <a:t>(1.2s to 12Hz) &amp; directional intensity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SYSTEM ARCHITECTURE</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HARDWARE &amp; FIRMWARE PIPELINE</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85800"/>
            <a:ext cx="11430000" cy="274320"/>
          </a:xfrm>
          <a:prstGeom prst="rect">
            <a:avLst/>
          </a:prstGeom>
          <a:noFill/>
        </p:spPr>
        <p:txBody>
          <a:bodyPr wrap="square" lIns="0" tIns="0">
            <a:spAutoFit/>
          </a:bodyPr>
          <a:lstStyle/>
          <a:p>
            <a:pPr>
              <a:defRPr sz="950" b="1">
                <a:solidFill>
                  <a:srgbClr val="0070AE"/>
                </a:solidFill>
                <a:latin typeface="Aptos"/>
              </a:defRPr>
            </a:pPr>
            <a:r>
              <a:t>DISTRIBUTED OPTICAL SENSING, DETERMINISTIC PROCESSING AND SPATIAL HAPTIC FEEDBACK</a:t>
            </a:r>
          </a:p>
        </p:txBody>
      </p:sp>
      <p:pic>
        <p:nvPicPr>
          <p:cNvPr id="8" name="Picture 7" descr="system_architecture_diagram.png"/>
          <p:cNvPicPr>
            <a:picLocks noChangeAspect="1"/>
          </p:cNvPicPr>
          <p:nvPr/>
        </p:nvPicPr>
        <p:blipFill>
          <a:blip r:embed="rId4"/>
          <a:stretch>
            <a:fillRect/>
          </a:stretch>
        </p:blipFill>
        <p:spPr>
          <a:xfrm>
            <a:off x="365760" y="1005840"/>
            <a:ext cx="8412480" cy="5212080"/>
          </a:xfrm>
          <a:prstGeom prst="rect">
            <a:avLst/>
          </a:prstGeom>
        </p:spPr>
      </p:pic>
      <p:sp>
        <p:nvSpPr>
          <p:cNvPr id="9" name="Rounded Rectangle 8"/>
          <p:cNvSpPr/>
          <p:nvPr/>
        </p:nvSpPr>
        <p:spPr>
          <a:xfrm>
            <a:off x="8961120" y="1005840"/>
            <a:ext cx="2834640" cy="52120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1A3670"/>
                </a:solidFill>
                <a:latin typeface="Aptos"/>
              </a:defRPr>
            </a:pPr>
            <a:r>
              <a:t>ARCHITECTURE SPECIFICATIONS</a:t>
            </a:r>
          </a:p>
          <a:p>
            <a:br/>
            <a:pPr>
              <a:defRPr sz="720">
                <a:solidFill>
                  <a:srgbClr val="1E293B"/>
                </a:solidFill>
                <a:latin typeface="Aptos"/>
              </a:defRPr>
            </a:pPr>
            <a:r>
              <a:t>1. Optical Perception Subsystem</a:t>
            </a:r>
            <a:br/>
            <a:r>
              <a:t>• 4x 0° waist sensors + 4x +25° head sensors</a:t>
            </a:r>
            <a:br/>
            <a:r>
              <a:t>• ST VL53L1X (940nm Class-1 eye-safe)</a:t>
            </a:r>
            <a:br/>
            <a:r>
              <a:t>• TCA9548A multiplexer with interleaved 4ms firing (15 Hz aggregate rate)</a:t>
            </a:r>
          </a:p>
          <a:p>
            <a:br/>
            <a:pPr>
              <a:defRPr sz="720">
                <a:solidFill>
                  <a:srgbClr val="1E293B"/>
                </a:solidFill>
                <a:latin typeface="Aptos"/>
              </a:defRPr>
            </a:pPr>
            <a:r>
              <a:t>2. Central Processing (ESP32-S3)</a:t>
            </a:r>
            <a:br/>
            <a:r>
              <a:t>• Core 0: Non-blocking Fast-Mode I²C sensor polling &amp; median filtering</a:t>
            </a:r>
            <a:br/>
            <a:r>
              <a:t>• Core 1: Distance-to-cadence mapping, spatial haptic interpolation &amp; 3s alert decay</a:t>
            </a:r>
            <a:br/>
            <a:r>
              <a:t>• ULP Coprocessor: BMI160 step detection, 15µA light sleep, 5ms fast wake</a:t>
            </a:r>
            <a:br/>
            <a:r>
              <a:t>• Latency: Target &lt;15 ms sensor-to-actuation</a:t>
            </a:r>
          </a:p>
          <a:p>
            <a:br/>
            <a:pPr>
              <a:defRPr sz="720">
                <a:solidFill>
                  <a:srgbClr val="1E293B"/>
                </a:solidFill>
                <a:latin typeface="Aptos"/>
              </a:defRPr>
            </a:pPr>
            <a:r>
              <a:t>3. Resonant Haptic Actuation</a:t>
            </a:r>
            <a:br/>
            <a:r>
              <a:t>• 8x TI DRV2605L motor driver ICs</a:t>
            </a:r>
            <a:br/>
            <a:r>
              <a:t>• 8x Precision 205Hz LRAs (up to 2.2G peak)</a:t>
            </a:r>
            <a:br/>
            <a:r>
              <a:t>• 150mA hardware current limit</a:t>
            </a:r>
          </a:p>
          <a:p>
            <a:br/>
            <a:pPr>
              <a:defRPr sz="720">
                <a:solidFill>
                  <a:srgbClr val="1E293B"/>
                </a:solidFill>
                <a:latin typeface="Aptos"/>
              </a:defRPr>
            </a:pPr>
            <a:r>
              <a:t>4. Power Management &amp; Safety</a:t>
            </a:r>
            <a:br/>
            <a:r>
              <a:t>• 3.7V 2500mAh Li-ion (IEC 62133 reference)</a:t>
            </a:r>
            <a:br/>
            <a:r>
              <a:t>• Hardware BMS: 4.25V OVP, 2.8V UVP, 2A OCP</a:t>
            </a:r>
            <a:br/>
            <a:r>
              <a:t>• Skin contact target &lt;34.5°C</a:t>
            </a:r>
          </a:p>
          <a:p>
            <a:br/>
            <a:pPr>
              <a:defRPr sz="720">
                <a:solidFill>
                  <a:srgbClr val="1E293B"/>
                </a:solidFill>
                <a:latin typeface="Aptos"/>
              </a:defRPr>
            </a:pPr>
            <a:r>
              <a:t>5. Accessible Companion Platform</a:t>
            </a:r>
            <a:br/>
            <a:r>
              <a:t>• Offline BLE link; zero cloud dependency</a:t>
            </a:r>
            <a:br/>
            <a:r>
              <a:t>• TalkBack / VoiceOver accessible UI</a:t>
            </a:r>
            <a:br/>
            <a:r>
              <a:t>• O&amp;M trainer 360° radar mirror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TARGET SPECIFICATIONS &amp; HARDWARE COMPONENTS</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ENGINEERING TARGETS &amp; SELECTION</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777240"/>
          <a:ext cx="6583680" cy="5577840"/>
        </p:xfrm>
        <a:graphic>
          <a:graphicData uri="http://schemas.openxmlformats.org/drawingml/2006/table">
            <a:tbl>
              <a:tblPr firstRow="1" bandRow="1">
                <a:tableStyleId>{5C22544A-7EE6-4342-B048-85BDC9FD1C3A}</a:tableStyleId>
              </a:tblPr>
              <a:tblGrid>
                <a:gridCol w="1645920"/>
                <a:gridCol w="2011680"/>
                <a:gridCol w="2926080"/>
              </a:tblGrid>
              <a:tr h="348615">
                <a:tc>
                  <a:txBody>
                    <a:bodyPr/>
                    <a:lstStyle/>
                    <a:p>
                      <a:pPr>
                        <a:defRPr sz="800" b="1">
                          <a:solidFill>
                            <a:srgbClr val="FFFFFF"/>
                          </a:solidFill>
                          <a:latin typeface="Aptos"/>
                        </a:defRPr>
                      </a:pPr>
                      <a:r>
                        <a:t>PARAMETER</a:t>
                      </a:r>
                    </a:p>
                  </a:txBody>
                  <a:tcPr marL="64008" marR="64008" marT="36576" marB="36576">
                    <a:solidFill>
                      <a:srgbClr val="1A3670"/>
                    </a:solidFill>
                  </a:tcPr>
                </a:tc>
                <a:tc>
                  <a:txBody>
                    <a:bodyPr/>
                    <a:lstStyle/>
                    <a:p>
                      <a:pPr>
                        <a:defRPr sz="800" b="1">
                          <a:solidFill>
                            <a:srgbClr val="FFFFFF"/>
                          </a:solidFill>
                          <a:latin typeface="Aptos"/>
                        </a:defRPr>
                      </a:pPr>
                      <a:r>
                        <a:t>TARGET SPECIFICATION</a:t>
                      </a:r>
                    </a:p>
                  </a:txBody>
                  <a:tcPr marL="64008" marR="64008" marT="36576" marB="36576">
                    <a:solidFill>
                      <a:srgbClr val="1A3670"/>
                    </a:solidFill>
                  </a:tcPr>
                </a:tc>
                <a:tc>
                  <a:txBody>
                    <a:bodyPr/>
                    <a:lstStyle/>
                    <a:p>
                      <a:pPr>
                        <a:defRPr sz="800" b="1">
                          <a:solidFill>
                            <a:srgbClr val="FFFFFF"/>
                          </a:solidFill>
                          <a:latin typeface="Aptos"/>
                        </a:defRPr>
                      </a:pPr>
                      <a:r>
                        <a:t>IMPLEMENTATION APPROACH</a:t>
                      </a:r>
                    </a:p>
                  </a:txBody>
                  <a:tcPr marL="64008" marR="64008" marT="36576" marB="36576">
                    <a:solidFill>
                      <a:srgbClr val="1A3670"/>
                    </a:solidFill>
                  </a:tcPr>
                </a:tc>
              </a:tr>
              <a:tr h="348615">
                <a:tc>
                  <a:txBody>
                    <a:bodyPr/>
                    <a:lstStyle/>
                    <a:p>
                      <a:pPr>
                        <a:defRPr sz="750">
                          <a:solidFill>
                            <a:srgbClr val="1E293B"/>
                          </a:solidFill>
                          <a:latin typeface="Aptos"/>
                        </a:defRPr>
                      </a:pPr>
                      <a:r>
                        <a:t>Core Controller</a:t>
                      </a:r>
                    </a:p>
                  </a:txBody>
                  <a:tcPr marL="64008" marR="64008" marT="27432" marB="27432">
                    <a:solidFill>
                      <a:srgbClr val="F8FAFC"/>
                    </a:solidFill>
                  </a:tcPr>
                </a:tc>
                <a:tc>
                  <a:txBody>
                    <a:bodyPr/>
                    <a:lstStyle/>
                    <a:p>
                      <a:pPr>
                        <a:defRPr sz="750">
                          <a:solidFill>
                            <a:srgbClr val="1E293B"/>
                          </a:solidFill>
                          <a:latin typeface="Aptos"/>
                        </a:defRPr>
                      </a:pPr>
                      <a:r>
                        <a:t>ESP32-S3 Dual-Core MCU, 240 MHz</a:t>
                      </a:r>
                    </a:p>
                  </a:txBody>
                  <a:tcPr marL="64008" marR="64008" marT="27432" marB="27432">
                    <a:solidFill>
                      <a:srgbClr val="F8FAFC"/>
                    </a:solidFill>
                  </a:tcPr>
                </a:tc>
                <a:tc>
                  <a:txBody>
                    <a:bodyPr/>
                    <a:lstStyle/>
                    <a:p>
                      <a:pPr>
                        <a:defRPr sz="750">
                          <a:solidFill>
                            <a:srgbClr val="1E293B"/>
                          </a:solidFill>
                          <a:latin typeface="Aptos"/>
                        </a:defRPr>
                      </a:pPr>
                      <a:r>
                        <a:t>Real-time dual-core DSP; zero neural network latency</a:t>
                      </a:r>
                    </a:p>
                  </a:txBody>
                  <a:tcPr marL="64008" marR="64008" marT="27432" marB="27432">
                    <a:solidFill>
                      <a:srgbClr val="F8FAFC"/>
                    </a:solidFill>
                  </a:tcPr>
                </a:tc>
              </a:tr>
              <a:tr h="348615">
                <a:tc>
                  <a:txBody>
                    <a:bodyPr/>
                    <a:lstStyle/>
                    <a:p>
                      <a:pPr>
                        <a:defRPr sz="750">
                          <a:solidFill>
                            <a:srgbClr val="1E293B"/>
                          </a:solidFill>
                          <a:latin typeface="Aptos"/>
                        </a:defRPr>
                      </a:pPr>
                      <a:r>
                        <a:t>Optical Sensing</a:t>
                      </a:r>
                    </a:p>
                  </a:txBody>
                  <a:tcPr marL="64008" marR="64008" marT="27432" marB="27432">
                    <a:solidFill>
                      <a:srgbClr val="FFFFFF"/>
                    </a:solidFill>
                  </a:tcPr>
                </a:tc>
                <a:tc>
                  <a:txBody>
                    <a:bodyPr/>
                    <a:lstStyle/>
                    <a:p>
                      <a:pPr>
                        <a:defRPr sz="750">
                          <a:solidFill>
                            <a:srgbClr val="1E293B"/>
                          </a:solidFill>
                          <a:latin typeface="Aptos"/>
                        </a:defRPr>
                      </a:pPr>
                      <a:r>
                        <a:t>8x ST VL53L1X Time-of-Flight Sensors</a:t>
                      </a:r>
                    </a:p>
                  </a:txBody>
                  <a:tcPr marL="64008" marR="64008" marT="27432" marB="27432">
                    <a:solidFill>
                      <a:srgbClr val="FFFFFF"/>
                    </a:solidFill>
                  </a:tcPr>
                </a:tc>
                <a:tc>
                  <a:txBody>
                    <a:bodyPr/>
                    <a:lstStyle/>
                    <a:p>
                      <a:pPr>
                        <a:defRPr sz="750">
                          <a:solidFill>
                            <a:srgbClr val="1E293B"/>
                          </a:solidFill>
                          <a:latin typeface="Aptos"/>
                        </a:defRPr>
                      </a:pPr>
                      <a:r>
                        <a:t>Class-1 940 nm infrared micro-LiDARs (27° FoV)</a:t>
                      </a:r>
                    </a:p>
                  </a:txBody>
                  <a:tcPr marL="64008" marR="64008" marT="27432" marB="27432">
                    <a:solidFill>
                      <a:srgbClr val="FFFFFF"/>
                    </a:solidFill>
                  </a:tcPr>
                </a:tc>
              </a:tr>
              <a:tr h="348615">
                <a:tc>
                  <a:txBody>
                    <a:bodyPr/>
                    <a:lstStyle/>
                    <a:p>
                      <a:pPr>
                        <a:defRPr sz="750">
                          <a:solidFill>
                            <a:srgbClr val="1E293B"/>
                          </a:solidFill>
                          <a:latin typeface="Aptos"/>
                        </a:defRPr>
                      </a:pPr>
                      <a:r>
                        <a:t>Horizontal Sensing Plane</a:t>
                      </a:r>
                    </a:p>
                  </a:txBody>
                  <a:tcPr marL="64008" marR="64008" marT="27432" marB="27432">
                    <a:solidFill>
                      <a:srgbClr val="F8FAFC"/>
                    </a:solidFill>
                  </a:tcPr>
                </a:tc>
                <a:tc>
                  <a:txBody>
                    <a:bodyPr/>
                    <a:lstStyle/>
                    <a:p>
                      <a:pPr>
                        <a:defRPr sz="750">
                          <a:solidFill>
                            <a:srgbClr val="1E293B"/>
                          </a:solidFill>
                          <a:latin typeface="Aptos"/>
                        </a:defRPr>
                      </a:pPr>
                      <a:r>
                        <a:t>4 sensors at 0° elevation</a:t>
                      </a:r>
                    </a:p>
                  </a:txBody>
                  <a:tcPr marL="64008" marR="64008" marT="27432" marB="27432">
                    <a:solidFill>
                      <a:srgbClr val="F8FAFC"/>
                    </a:solidFill>
                  </a:tcPr>
                </a:tc>
                <a:tc>
                  <a:txBody>
                    <a:bodyPr/>
                    <a:lstStyle/>
                    <a:p>
                      <a:pPr>
                        <a:defRPr sz="750">
                          <a:solidFill>
                            <a:srgbClr val="1E293B"/>
                          </a:solidFill>
                          <a:latin typeface="Aptos"/>
                        </a:defRPr>
                      </a:pPr>
                      <a:r>
                        <a:t>Front, Rear, Left, Right waist-level obstacle detection</a:t>
                      </a:r>
                    </a:p>
                  </a:txBody>
                  <a:tcPr marL="64008" marR="64008" marT="27432" marB="27432">
                    <a:solidFill>
                      <a:srgbClr val="F8FAFC"/>
                    </a:solidFill>
                  </a:tcPr>
                </a:tc>
              </a:tr>
              <a:tr h="348615">
                <a:tc>
                  <a:txBody>
                    <a:bodyPr/>
                    <a:lstStyle/>
                    <a:p>
                      <a:pPr>
                        <a:defRPr sz="750">
                          <a:solidFill>
                            <a:srgbClr val="1E293B"/>
                          </a:solidFill>
                          <a:latin typeface="Aptos"/>
                        </a:defRPr>
                      </a:pPr>
                      <a:r>
                        <a:t>Upper Sensing Plane</a:t>
                      </a:r>
                    </a:p>
                  </a:txBody>
                  <a:tcPr marL="64008" marR="64008" marT="27432" marB="27432">
                    <a:solidFill>
                      <a:srgbClr val="FFFFFF"/>
                    </a:solidFill>
                  </a:tcPr>
                </a:tc>
                <a:tc>
                  <a:txBody>
                    <a:bodyPr/>
                    <a:lstStyle/>
                    <a:p>
                      <a:pPr>
                        <a:defRPr sz="750">
                          <a:solidFill>
                            <a:srgbClr val="1E293B"/>
                          </a:solidFill>
                          <a:latin typeface="Aptos"/>
                        </a:defRPr>
                      </a:pPr>
                      <a:r>
                        <a:t>4 sensors at +25° elevation</a:t>
                      </a:r>
                    </a:p>
                  </a:txBody>
                  <a:tcPr marL="64008" marR="64008" marT="27432" marB="27432">
                    <a:solidFill>
                      <a:srgbClr val="FFFFFF"/>
                    </a:solidFill>
                  </a:tcPr>
                </a:tc>
                <a:tc>
                  <a:txBody>
                    <a:bodyPr/>
                    <a:lstStyle/>
                    <a:p>
                      <a:pPr>
                        <a:defRPr sz="750">
                          <a:solidFill>
                            <a:srgbClr val="1E293B"/>
                          </a:solidFill>
                          <a:latin typeface="Aptos"/>
                        </a:defRPr>
                      </a:pPr>
                      <a:r>
                        <a:t>Projects protective cone from chest level to 2.1 m height</a:t>
                      </a:r>
                    </a:p>
                  </a:txBody>
                  <a:tcPr marL="64008" marR="64008" marT="27432" marB="27432">
                    <a:solidFill>
                      <a:srgbClr val="FFFFFF"/>
                    </a:solidFill>
                  </a:tcPr>
                </a:tc>
              </a:tr>
              <a:tr h="348615">
                <a:tc>
                  <a:txBody>
                    <a:bodyPr/>
                    <a:lstStyle/>
                    <a:p>
                      <a:pPr>
                        <a:defRPr sz="750">
                          <a:solidFill>
                            <a:srgbClr val="1E293B"/>
                          </a:solidFill>
                          <a:latin typeface="Aptos"/>
                        </a:defRPr>
                      </a:pPr>
                      <a:r>
                        <a:t>Angular Distribution</a:t>
                      </a:r>
                    </a:p>
                  </a:txBody>
                  <a:tcPr marL="64008" marR="64008" marT="27432" marB="27432">
                    <a:solidFill>
                      <a:srgbClr val="F8FAFC"/>
                    </a:solidFill>
                  </a:tcPr>
                </a:tc>
                <a:tc>
                  <a:txBody>
                    <a:bodyPr/>
                    <a:lstStyle/>
                    <a:p>
                      <a:pPr>
                        <a:defRPr sz="750">
                          <a:solidFill>
                            <a:srgbClr val="1E293B"/>
                          </a:solidFill>
                          <a:latin typeface="Aptos"/>
                        </a:defRPr>
                      </a:pPr>
                      <a:r>
                        <a:t>8 positions at 45° intervals</a:t>
                      </a:r>
                    </a:p>
                  </a:txBody>
                  <a:tcPr marL="64008" marR="64008" marT="27432" marB="27432">
                    <a:solidFill>
                      <a:srgbClr val="F8FAFC"/>
                    </a:solidFill>
                  </a:tcPr>
                </a:tc>
                <a:tc>
                  <a:txBody>
                    <a:bodyPr/>
                    <a:lstStyle/>
                    <a:p>
                      <a:pPr>
                        <a:defRPr sz="750">
                          <a:solidFill>
                            <a:srgbClr val="1E293B"/>
                          </a:solidFill>
                          <a:latin typeface="Aptos"/>
                        </a:defRPr>
                      </a:pPr>
                      <a:r>
                        <a:t>Complete 360° radial perimeter around user's waist</a:t>
                      </a:r>
                    </a:p>
                  </a:txBody>
                  <a:tcPr marL="64008" marR="64008" marT="27432" marB="27432">
                    <a:solidFill>
                      <a:srgbClr val="F8FAFC"/>
                    </a:solidFill>
                  </a:tcPr>
                </a:tc>
              </a:tr>
              <a:tr h="348615">
                <a:tc>
                  <a:txBody>
                    <a:bodyPr/>
                    <a:lstStyle/>
                    <a:p>
                      <a:pPr>
                        <a:defRPr sz="750">
                          <a:solidFill>
                            <a:srgbClr val="1E293B"/>
                          </a:solidFill>
                          <a:latin typeface="Aptos"/>
                        </a:defRPr>
                      </a:pPr>
                      <a:r>
                        <a:t>Aggregate Refresh Rate</a:t>
                      </a:r>
                    </a:p>
                  </a:txBody>
                  <a:tcPr marL="64008" marR="64008" marT="27432" marB="27432">
                    <a:solidFill>
                      <a:srgbClr val="FFFFFF"/>
                    </a:solidFill>
                  </a:tcPr>
                </a:tc>
                <a:tc>
                  <a:txBody>
                    <a:bodyPr/>
                    <a:lstStyle/>
                    <a:p>
                      <a:pPr>
                        <a:defRPr sz="750">
                          <a:solidFill>
                            <a:srgbClr val="1E293B"/>
                          </a:solidFill>
                          <a:latin typeface="Aptos"/>
                        </a:defRPr>
                      </a:pPr>
                      <a:r>
                        <a:t>15 Hz target aggregate rate</a:t>
                      </a:r>
                    </a:p>
                  </a:txBody>
                  <a:tcPr marL="64008" marR="64008" marT="27432" marB="27432">
                    <a:solidFill>
                      <a:srgbClr val="FFFFFF"/>
                    </a:solidFill>
                  </a:tcPr>
                </a:tc>
                <a:tc>
                  <a:txBody>
                    <a:bodyPr/>
                    <a:lstStyle/>
                    <a:p>
                      <a:pPr>
                        <a:defRPr sz="750">
                          <a:solidFill>
                            <a:srgbClr val="1E293B"/>
                          </a:solidFill>
                          <a:latin typeface="Aptos"/>
                        </a:defRPr>
                      </a:pPr>
                      <a:r>
                        <a:t>Fast-Mode I²C polling across multiplexer channels</a:t>
                      </a:r>
                    </a:p>
                  </a:txBody>
                  <a:tcPr marL="64008" marR="64008" marT="27432" marB="27432">
                    <a:solidFill>
                      <a:srgbClr val="FFFFFF"/>
                    </a:solidFill>
                  </a:tcPr>
                </a:tc>
              </a:tr>
              <a:tr h="348615">
                <a:tc>
                  <a:txBody>
                    <a:bodyPr/>
                    <a:lstStyle/>
                    <a:p>
                      <a:pPr>
                        <a:defRPr sz="750">
                          <a:solidFill>
                            <a:srgbClr val="1E293B"/>
                          </a:solidFill>
                          <a:latin typeface="Aptos"/>
                        </a:defRPr>
                      </a:pPr>
                      <a:r>
                        <a:t>Sensor Scheduling</a:t>
                      </a:r>
                    </a:p>
                  </a:txBody>
                  <a:tcPr marL="64008" marR="64008" marT="27432" marB="27432">
                    <a:solidFill>
                      <a:srgbClr val="F8FAFC"/>
                    </a:solidFill>
                  </a:tcPr>
                </a:tc>
                <a:tc>
                  <a:txBody>
                    <a:bodyPr/>
                    <a:lstStyle/>
                    <a:p>
                      <a:pPr>
                        <a:defRPr sz="750">
                          <a:solidFill>
                            <a:srgbClr val="1E293B"/>
                          </a:solidFill>
                          <a:latin typeface="Aptos"/>
                        </a:defRPr>
                      </a:pPr>
                      <a:r>
                        <a:t>Interleaved sequence: 1→5→2→6→3→7→4→8</a:t>
                      </a:r>
                    </a:p>
                  </a:txBody>
                  <a:tcPr marL="64008" marR="64008" marT="27432" marB="27432">
                    <a:solidFill>
                      <a:srgbClr val="F8FAFC"/>
                    </a:solidFill>
                  </a:tcPr>
                </a:tc>
                <a:tc>
                  <a:txBody>
                    <a:bodyPr/>
                    <a:lstStyle/>
                    <a:p>
                      <a:pPr>
                        <a:defRPr sz="750">
                          <a:solidFill>
                            <a:srgbClr val="1E293B"/>
                          </a:solidFill>
                          <a:latin typeface="Aptos"/>
                        </a:defRPr>
                      </a:pPr>
                      <a:r>
                        <a:t>4 ms phase offsets prevent optical crosstalk dropouts</a:t>
                      </a:r>
                    </a:p>
                  </a:txBody>
                  <a:tcPr marL="64008" marR="64008" marT="27432" marB="27432">
                    <a:solidFill>
                      <a:srgbClr val="F8FAFC"/>
                    </a:solidFill>
                  </a:tcPr>
                </a:tc>
              </a:tr>
              <a:tr h="348615">
                <a:tc>
                  <a:txBody>
                    <a:bodyPr/>
                    <a:lstStyle/>
                    <a:p>
                      <a:pPr>
                        <a:defRPr sz="750">
                          <a:solidFill>
                            <a:srgbClr val="1E293B"/>
                          </a:solidFill>
                          <a:latin typeface="Aptos"/>
                        </a:defRPr>
                      </a:pPr>
                      <a:r>
                        <a:t>Processing Latency</a:t>
                      </a:r>
                    </a:p>
                  </a:txBody>
                  <a:tcPr marL="64008" marR="64008" marT="27432" marB="27432">
                    <a:solidFill>
                      <a:srgbClr val="FFFFFF"/>
                    </a:solidFill>
                  </a:tcPr>
                </a:tc>
                <a:tc>
                  <a:txBody>
                    <a:bodyPr/>
                    <a:lstStyle/>
                    <a:p>
                      <a:pPr>
                        <a:defRPr sz="750">
                          <a:solidFill>
                            <a:srgbClr val="1E293B"/>
                          </a:solidFill>
                          <a:latin typeface="Aptos"/>
                        </a:defRPr>
                      </a:pPr>
                      <a:r>
                        <a:t>Under 15 ms target latency</a:t>
                      </a:r>
                    </a:p>
                  </a:txBody>
                  <a:tcPr marL="64008" marR="64008" marT="27432" marB="27432">
                    <a:solidFill>
                      <a:srgbClr val="FFFFFF"/>
                    </a:solidFill>
                  </a:tcPr>
                </a:tc>
                <a:tc>
                  <a:txBody>
                    <a:bodyPr/>
                    <a:lstStyle/>
                    <a:p>
                      <a:pPr>
                        <a:defRPr sz="750">
                          <a:solidFill>
                            <a:srgbClr val="1E293B"/>
                          </a:solidFill>
                          <a:latin typeface="Aptos"/>
                        </a:defRPr>
                      </a:pPr>
                      <a:r>
                        <a:t>Hard real-time deterministic DSP on Core 0 &amp; Core 1</a:t>
                      </a:r>
                    </a:p>
                  </a:txBody>
                  <a:tcPr marL="64008" marR="64008" marT="27432" marB="27432">
                    <a:solidFill>
                      <a:srgbClr val="FFFFFF"/>
                    </a:solidFill>
                  </a:tcPr>
                </a:tc>
              </a:tr>
              <a:tr h="348615">
                <a:tc>
                  <a:txBody>
                    <a:bodyPr/>
                    <a:lstStyle/>
                    <a:p>
                      <a:pPr>
                        <a:defRPr sz="750">
                          <a:solidFill>
                            <a:srgbClr val="1E293B"/>
                          </a:solidFill>
                          <a:latin typeface="Aptos"/>
                        </a:defRPr>
                      </a:pPr>
                      <a:r>
                        <a:t>Haptic Actuation</a:t>
                      </a:r>
                    </a:p>
                  </a:txBody>
                  <a:tcPr marL="64008" marR="64008" marT="27432" marB="27432">
                    <a:solidFill>
                      <a:srgbClr val="F8FAFC"/>
                    </a:solidFill>
                  </a:tcPr>
                </a:tc>
                <a:tc>
                  <a:txBody>
                    <a:bodyPr/>
                    <a:lstStyle/>
                    <a:p>
                      <a:pPr>
                        <a:defRPr sz="750">
                          <a:solidFill>
                            <a:srgbClr val="1E293B"/>
                          </a:solidFill>
                          <a:latin typeface="Aptos"/>
                        </a:defRPr>
                      </a:pPr>
                      <a:r>
                        <a:t>8x Linear Resonant Actuators (LRAs)</a:t>
                      </a:r>
                    </a:p>
                  </a:txBody>
                  <a:tcPr marL="64008" marR="64008" marT="27432" marB="27432">
                    <a:solidFill>
                      <a:srgbClr val="F8FAFC"/>
                    </a:solidFill>
                  </a:tcPr>
                </a:tc>
                <a:tc>
                  <a:txBody>
                    <a:bodyPr/>
                    <a:lstStyle/>
                    <a:p>
                      <a:pPr>
                        <a:defRPr sz="750">
                          <a:solidFill>
                            <a:srgbClr val="1E293B"/>
                          </a:solidFill>
                          <a:latin typeface="Aptos"/>
                        </a:defRPr>
                      </a:pPr>
                      <a:r>
                        <a:t>Driven by 8x TI DRV2605L motor controllers via I²C</a:t>
                      </a:r>
                    </a:p>
                  </a:txBody>
                  <a:tcPr marL="64008" marR="64008" marT="27432" marB="27432">
                    <a:solidFill>
                      <a:srgbClr val="F8FAFC"/>
                    </a:solidFill>
                  </a:tcPr>
                </a:tc>
              </a:tr>
              <a:tr h="348615">
                <a:tc>
                  <a:txBody>
                    <a:bodyPr/>
                    <a:lstStyle/>
                    <a:p>
                      <a:pPr>
                        <a:defRPr sz="750">
                          <a:solidFill>
                            <a:srgbClr val="1E293B"/>
                          </a:solidFill>
                          <a:latin typeface="Aptos"/>
                        </a:defRPr>
                      </a:pPr>
                      <a:r>
                        <a:t>Haptic Resonance</a:t>
                      </a:r>
                    </a:p>
                  </a:txBody>
                  <a:tcPr marL="64008" marR="64008" marT="27432" marB="27432">
                    <a:solidFill>
                      <a:srgbClr val="FFFFFF"/>
                    </a:solidFill>
                  </a:tcPr>
                </a:tc>
                <a:tc>
                  <a:txBody>
                    <a:bodyPr/>
                    <a:lstStyle/>
                    <a:p>
                      <a:pPr>
                        <a:defRPr sz="750">
                          <a:solidFill>
                            <a:srgbClr val="1E293B"/>
                          </a:solidFill>
                          <a:latin typeface="Aptos"/>
                        </a:defRPr>
                      </a:pPr>
                      <a:r>
                        <a:t>205 Hz ± 3 Hz auto-tracking</a:t>
                      </a:r>
                    </a:p>
                  </a:txBody>
                  <a:tcPr marL="64008" marR="64008" marT="27432" marB="27432">
                    <a:solidFill>
                      <a:srgbClr val="FFFFFF"/>
                    </a:solidFill>
                  </a:tcPr>
                </a:tc>
                <a:tc>
                  <a:txBody>
                    <a:bodyPr/>
                    <a:lstStyle/>
                    <a:p>
                      <a:pPr>
                        <a:defRPr sz="750">
                          <a:solidFill>
                            <a:srgbClr val="1E293B"/>
                          </a:solidFill>
                          <a:latin typeface="Aptos"/>
                        </a:defRPr>
                      </a:pPr>
                      <a:r>
                        <a:t>Locked to mechanical resonance; up to 2.2 G acceleration</a:t>
                      </a:r>
                    </a:p>
                  </a:txBody>
                  <a:tcPr marL="64008" marR="64008" marT="27432" marB="27432">
                    <a:solidFill>
                      <a:srgbClr val="FFFFFF"/>
                    </a:solidFill>
                  </a:tcPr>
                </a:tc>
              </a:tr>
              <a:tr h="348615">
                <a:tc>
                  <a:txBody>
                    <a:bodyPr/>
                    <a:lstStyle/>
                    <a:p>
                      <a:pPr>
                        <a:defRPr sz="750">
                          <a:solidFill>
                            <a:srgbClr val="1E293B"/>
                          </a:solidFill>
                          <a:latin typeface="Aptos"/>
                        </a:defRPr>
                      </a:pPr>
                      <a:r>
                        <a:t>Proximity Response</a:t>
                      </a:r>
                    </a:p>
                  </a:txBody>
                  <a:tcPr marL="64008" marR="64008" marT="27432" marB="27432">
                    <a:solidFill>
                      <a:srgbClr val="F8FAFC"/>
                    </a:solidFill>
                  </a:tcPr>
                </a:tc>
                <a:tc>
                  <a:txBody>
                    <a:bodyPr/>
                    <a:lstStyle/>
                    <a:p>
                      <a:pPr>
                        <a:defRPr sz="750">
                          <a:solidFill>
                            <a:srgbClr val="1E293B"/>
                          </a:solidFill>
                          <a:latin typeface="Aptos"/>
                        </a:defRPr>
                      </a:pPr>
                      <a:r>
                        <a:t>Distance-to-cadence repetition</a:t>
                      </a:r>
                    </a:p>
                  </a:txBody>
                  <a:tcPr marL="64008" marR="64008" marT="27432" marB="27432">
                    <a:solidFill>
                      <a:srgbClr val="F8FAFC"/>
                    </a:solidFill>
                  </a:tcPr>
                </a:tc>
                <a:tc>
                  <a:txBody>
                    <a:bodyPr/>
                    <a:lstStyle/>
                    <a:p>
                      <a:pPr>
                        <a:defRPr sz="750">
                          <a:solidFill>
                            <a:srgbClr val="1E293B"/>
                          </a:solidFill>
                          <a:latin typeface="Aptos"/>
                        </a:defRPr>
                      </a:pPr>
                      <a:r>
                        <a:t>1.2 s pulse (2.5 m) accelerating to 12 Hz burst (0.4 m)</a:t>
                      </a:r>
                    </a:p>
                  </a:txBody>
                  <a:tcPr marL="64008" marR="64008" marT="27432" marB="27432">
                    <a:solidFill>
                      <a:srgbClr val="F8FAFC"/>
                    </a:solidFill>
                  </a:tcPr>
                </a:tc>
              </a:tr>
              <a:tr h="348615">
                <a:tc>
                  <a:txBody>
                    <a:bodyPr/>
                    <a:lstStyle/>
                    <a:p>
                      <a:pPr>
                        <a:defRPr sz="750">
                          <a:solidFill>
                            <a:srgbClr val="1E293B"/>
                          </a:solidFill>
                          <a:latin typeface="Aptos"/>
                        </a:defRPr>
                      </a:pPr>
                      <a:r>
                        <a:t>Optical Field of View</a:t>
                      </a:r>
                    </a:p>
                  </a:txBody>
                  <a:tcPr marL="64008" marR="64008" marT="27432" marB="27432">
                    <a:solidFill>
                      <a:srgbClr val="FFFFFF"/>
                    </a:solidFill>
                  </a:tcPr>
                </a:tc>
                <a:tc>
                  <a:txBody>
                    <a:bodyPr/>
                    <a:lstStyle/>
                    <a:p>
                      <a:pPr>
                        <a:defRPr sz="750">
                          <a:solidFill>
                            <a:srgbClr val="1E293B"/>
                          </a:solidFill>
                          <a:latin typeface="Aptos"/>
                        </a:defRPr>
                      </a:pPr>
                      <a:r>
                        <a:t>27° diagonal cone per sensor</a:t>
                      </a:r>
                    </a:p>
                  </a:txBody>
                  <a:tcPr marL="64008" marR="64008" marT="27432" marB="27432">
                    <a:solidFill>
                      <a:srgbClr val="FFFFFF"/>
                    </a:solidFill>
                  </a:tcPr>
                </a:tc>
                <a:tc>
                  <a:txBody>
                    <a:bodyPr/>
                    <a:lstStyle/>
                    <a:p>
                      <a:pPr>
                        <a:defRPr sz="750">
                          <a:solidFill>
                            <a:srgbClr val="1E293B"/>
                          </a:solidFill>
                          <a:latin typeface="Aptos"/>
                        </a:defRPr>
                      </a:pPr>
                      <a:r>
                        <a:t>Specified in source documentation for VL53L1X optics</a:t>
                      </a:r>
                    </a:p>
                  </a:txBody>
                  <a:tcPr marL="64008" marR="64008" marT="27432" marB="27432">
                    <a:solidFill>
                      <a:srgbClr val="FFFFFF"/>
                    </a:solidFill>
                  </a:tcPr>
                </a:tc>
              </a:tr>
              <a:tr h="348615">
                <a:tc>
                  <a:txBody>
                    <a:bodyPr/>
                    <a:lstStyle/>
                    <a:p>
                      <a:pPr>
                        <a:defRPr sz="750">
                          <a:solidFill>
                            <a:srgbClr val="1E293B"/>
                          </a:solidFill>
                          <a:latin typeface="Aptos"/>
                        </a:defRPr>
                      </a:pPr>
                      <a:r>
                        <a:t>Sensor Wavelength</a:t>
                      </a:r>
                    </a:p>
                  </a:txBody>
                  <a:tcPr marL="64008" marR="64008" marT="27432" marB="27432">
                    <a:solidFill>
                      <a:srgbClr val="F8FAFC"/>
                    </a:solidFill>
                  </a:tcPr>
                </a:tc>
                <a:tc>
                  <a:txBody>
                    <a:bodyPr/>
                    <a:lstStyle/>
                    <a:p>
                      <a:pPr>
                        <a:defRPr sz="750">
                          <a:solidFill>
                            <a:srgbClr val="1E293B"/>
                          </a:solidFill>
                          <a:latin typeface="Aptos"/>
                        </a:defRPr>
                      </a:pPr>
                      <a:r>
                        <a:t>940 nm infrared (Class-1)</a:t>
                      </a:r>
                    </a:p>
                  </a:txBody>
                  <a:tcPr marL="64008" marR="64008" marT="27432" marB="27432">
                    <a:solidFill>
                      <a:srgbClr val="F8FAFC"/>
                    </a:solidFill>
                  </a:tcPr>
                </a:tc>
                <a:tc>
                  <a:txBody>
                    <a:bodyPr/>
                    <a:lstStyle/>
                    <a:p>
                      <a:pPr>
                        <a:defRPr sz="750">
                          <a:solidFill>
                            <a:srgbClr val="1E293B"/>
                          </a:solidFill>
                          <a:latin typeface="Aptos"/>
                        </a:defRPr>
                      </a:pPr>
                      <a:r>
                        <a:t>IEC 60825-1:2014 eye-safe compliance reference</a:t>
                      </a:r>
                    </a:p>
                  </a:txBody>
                  <a:tcPr marL="64008" marR="64008" marT="27432" marB="27432">
                    <a:solidFill>
                      <a:srgbClr val="F8FAFC"/>
                    </a:solidFill>
                  </a:tcPr>
                </a:tc>
              </a:tr>
              <a:tr h="348615">
                <a:tc>
                  <a:txBody>
                    <a:bodyPr/>
                    <a:lstStyle/>
                    <a:p>
                      <a:pPr>
                        <a:defRPr sz="750">
                          <a:solidFill>
                            <a:srgbClr val="1E293B"/>
                          </a:solidFill>
                          <a:latin typeface="Aptos"/>
                        </a:defRPr>
                      </a:pPr>
                      <a:r>
                        <a:t>Battery Subsystem</a:t>
                      </a:r>
                    </a:p>
                  </a:txBody>
                  <a:tcPr marL="64008" marR="64008" marT="27432" marB="27432">
                    <a:solidFill>
                      <a:srgbClr val="FFFFFF"/>
                    </a:solidFill>
                  </a:tcPr>
                </a:tc>
                <a:tc>
                  <a:txBody>
                    <a:bodyPr/>
                    <a:lstStyle/>
                    <a:p>
                      <a:pPr>
                        <a:defRPr sz="750">
                          <a:solidFill>
                            <a:srgbClr val="1E293B"/>
                          </a:solidFill>
                          <a:latin typeface="Aptos"/>
                        </a:defRPr>
                      </a:pPr>
                      <a:r>
                        <a:t>3.7 V, 2500 mAh Li-ion rechargeable</a:t>
                      </a:r>
                    </a:p>
                  </a:txBody>
                  <a:tcPr marL="64008" marR="64008" marT="27432" marB="27432">
                    <a:solidFill>
                      <a:srgbClr val="FFFFFF"/>
                    </a:solidFill>
                  </a:tcPr>
                </a:tc>
                <a:tc>
                  <a:txBody>
                    <a:bodyPr/>
                    <a:lstStyle/>
                    <a:p>
                      <a:pPr>
                        <a:defRPr sz="750">
                          <a:solidFill>
                            <a:srgbClr val="1E293B"/>
                          </a:solidFill>
                          <a:latin typeface="Aptos"/>
                        </a:defRPr>
                      </a:pPr>
                      <a:r>
                        <a:t>Hardware BMS (4.25V OVP, 2.8V UVP, 2A OCP, IEC 62133 ref)</a:t>
                      </a:r>
                    </a:p>
                  </a:txBody>
                  <a:tcPr marL="64008" marR="64008" marT="27432" marB="27432">
                    <a:solidFill>
                      <a:srgbClr val="FFFFFF"/>
                    </a:solidFill>
                  </a:tcPr>
                </a:tc>
              </a:tr>
              <a:tr h="348615">
                <a:tc>
                  <a:txBody>
                    <a:bodyPr/>
                    <a:lstStyle/>
                    <a:p>
                      <a:pPr>
                        <a:defRPr sz="750">
                          <a:solidFill>
                            <a:srgbClr val="1E293B"/>
                          </a:solidFill>
                          <a:latin typeface="Aptos"/>
                        </a:defRPr>
                      </a:pPr>
                      <a:r>
                        <a:t>Prototype BOM Cost</a:t>
                      </a:r>
                    </a:p>
                  </a:txBody>
                  <a:tcPr marL="64008" marR="64008" marT="27432" marB="27432">
                    <a:solidFill>
                      <a:srgbClr val="F8FAFC"/>
                    </a:solidFill>
                  </a:tcPr>
                </a:tc>
                <a:tc>
                  <a:txBody>
                    <a:bodyPr/>
                    <a:lstStyle/>
                    <a:p>
                      <a:pPr>
                        <a:defRPr sz="750">
                          <a:solidFill>
                            <a:srgbClr val="1E293B"/>
                          </a:solidFill>
                          <a:latin typeface="Aptos"/>
                        </a:defRPr>
                      </a:pPr>
                      <a:r>
                        <a:t>₹9,500 estimated prototype BOM</a:t>
                      </a:r>
                    </a:p>
                  </a:txBody>
                  <a:tcPr marL="64008" marR="64008" marT="27432" marB="27432">
                    <a:solidFill>
                      <a:srgbClr val="F8FAFC"/>
                    </a:solidFill>
                  </a:tcPr>
                </a:tc>
                <a:tc>
                  <a:txBody>
                    <a:bodyPr/>
                    <a:lstStyle/>
                    <a:p>
                      <a:pPr>
                        <a:defRPr sz="750">
                          <a:solidFill>
                            <a:srgbClr val="1E293B"/>
                          </a:solidFill>
                          <a:latin typeface="Aptos"/>
                        </a:defRPr>
                      </a:pPr>
                      <a:r>
                        <a:t>Source BOM; ₹3,650 volume projection (1,000+ units)</a:t>
                      </a:r>
                    </a:p>
                  </a:txBody>
                  <a:tcPr marL="64008" marR="64008" marT="27432" marB="27432">
                    <a:solidFill>
                      <a:srgbClr val="F8FAFC"/>
                    </a:solidFill>
                  </a:tcPr>
                </a:tc>
              </a:tr>
            </a:tbl>
          </a:graphicData>
        </a:graphic>
      </p:graphicFrame>
      <p:graphicFrame>
        <p:nvGraphicFramePr>
          <p:cNvPr id="8" name="Table 7"/>
          <p:cNvGraphicFramePr>
            <a:graphicFrameLocks noGrp="1"/>
          </p:cNvGraphicFramePr>
          <p:nvPr/>
        </p:nvGraphicFramePr>
        <p:xfrm>
          <a:off x="7132320" y="777240"/>
          <a:ext cx="4663440" cy="5577840"/>
        </p:xfrm>
        <a:graphic>
          <a:graphicData uri="http://schemas.openxmlformats.org/drawingml/2006/table">
            <a:tbl>
              <a:tblPr firstRow="1" bandRow="1">
                <a:tableStyleId>{5C22544A-7EE6-4342-B048-85BDC9FD1C3A}</a:tableStyleId>
              </a:tblPr>
              <a:tblGrid>
                <a:gridCol w="548640"/>
                <a:gridCol w="1828800"/>
                <a:gridCol w="2286000"/>
              </a:tblGrid>
              <a:tr h="557784">
                <a:tc>
                  <a:txBody>
                    <a:bodyPr/>
                    <a:lstStyle/>
                    <a:p>
                      <a:pPr>
                        <a:defRPr sz="800" b="1">
                          <a:solidFill>
                            <a:srgbClr val="FFFFFF"/>
                          </a:solidFill>
                          <a:latin typeface="Aptos"/>
                        </a:defRPr>
                      </a:pPr>
                      <a:r>
                        <a:t>S. NO.</a:t>
                      </a:r>
                    </a:p>
                  </a:txBody>
                  <a:tcPr marL="64008" marR="64008" marT="36576" marB="36576">
                    <a:solidFill>
                      <a:srgbClr val="0070AE"/>
                    </a:solidFill>
                  </a:tcPr>
                </a:tc>
                <a:tc>
                  <a:txBody>
                    <a:bodyPr/>
                    <a:lstStyle/>
                    <a:p>
                      <a:pPr>
                        <a:defRPr sz="800" b="1">
                          <a:solidFill>
                            <a:srgbClr val="FFFFFF"/>
                          </a:solidFill>
                          <a:latin typeface="Aptos"/>
                        </a:defRPr>
                      </a:pPr>
                      <a:r>
                        <a:t>HARDWARE COMPONENT</a:t>
                      </a:r>
                    </a:p>
                  </a:txBody>
                  <a:tcPr marL="64008" marR="64008" marT="36576" marB="36576">
                    <a:solidFill>
                      <a:srgbClr val="0070AE"/>
                    </a:solidFill>
                  </a:tcPr>
                </a:tc>
                <a:tc>
                  <a:txBody>
                    <a:bodyPr/>
                    <a:lstStyle/>
                    <a:p>
                      <a:pPr>
                        <a:defRPr sz="800" b="1">
                          <a:solidFill>
                            <a:srgbClr val="FFFFFF"/>
                          </a:solidFill>
                          <a:latin typeface="Aptos"/>
                        </a:defRPr>
                      </a:pPr>
                      <a:r>
                        <a:t>PRIMARY USE</a:t>
                      </a:r>
                    </a:p>
                  </a:txBody>
                  <a:tcPr marL="64008" marR="64008" marT="36576" marB="36576">
                    <a:solidFill>
                      <a:srgbClr val="0070AE"/>
                    </a:solidFill>
                  </a:tcPr>
                </a:tc>
              </a:tr>
              <a:tr h="557784">
                <a:tc>
                  <a:txBody>
                    <a:bodyPr/>
                    <a:lstStyle/>
                    <a:p>
                      <a:pPr>
                        <a:defRPr sz="750">
                          <a:solidFill>
                            <a:srgbClr val="1E293B"/>
                          </a:solidFill>
                          <a:latin typeface="Aptos"/>
                        </a:defRPr>
                      </a:pPr>
                      <a:r>
                        <a:t>1</a:t>
                      </a:r>
                    </a:p>
                  </a:txBody>
                  <a:tcPr marL="64008" marR="64008" marT="27432" marB="27432">
                    <a:solidFill>
                      <a:srgbClr val="F8FAFC"/>
                    </a:solidFill>
                  </a:tcPr>
                </a:tc>
                <a:tc>
                  <a:txBody>
                    <a:bodyPr/>
                    <a:lstStyle/>
                    <a:p>
                      <a:pPr>
                        <a:defRPr sz="750">
                          <a:solidFill>
                            <a:srgbClr val="1E293B"/>
                          </a:solidFill>
                          <a:latin typeface="Aptos"/>
                        </a:defRPr>
                      </a:pPr>
                      <a:r>
                        <a:t>ESP32-S3-WROOM-1 MCU</a:t>
                      </a:r>
                    </a:p>
                  </a:txBody>
                  <a:tcPr marL="64008" marR="64008" marT="27432" marB="27432">
                    <a:solidFill>
                      <a:srgbClr val="F8FAFC"/>
                    </a:solidFill>
                  </a:tcPr>
                </a:tc>
                <a:tc>
                  <a:txBody>
                    <a:bodyPr/>
                    <a:lstStyle/>
                    <a:p>
                      <a:pPr>
                        <a:defRPr sz="750">
                          <a:solidFill>
                            <a:srgbClr val="1E293B"/>
                          </a:solidFill>
                          <a:latin typeface="Aptos"/>
                        </a:defRPr>
                      </a:pPr>
                      <a:r>
                        <a:t>Dual-core processing, sensor scheduling, haptic DSP, and BLE telemetry</a:t>
                      </a:r>
                    </a:p>
                  </a:txBody>
                  <a:tcPr marL="64008" marR="64008" marT="27432" marB="27432">
                    <a:solidFill>
                      <a:srgbClr val="F8FAFC"/>
                    </a:solidFill>
                  </a:tcPr>
                </a:tc>
              </a:tr>
              <a:tr h="557784">
                <a:tc>
                  <a:txBody>
                    <a:bodyPr/>
                    <a:lstStyle/>
                    <a:p>
                      <a:pPr>
                        <a:defRPr sz="750">
                          <a:solidFill>
                            <a:srgbClr val="1E293B"/>
                          </a:solidFill>
                          <a:latin typeface="Aptos"/>
                        </a:defRPr>
                      </a:pPr>
                      <a:r>
                        <a:t>2</a:t>
                      </a:r>
                    </a:p>
                  </a:txBody>
                  <a:tcPr marL="64008" marR="64008" marT="27432" marB="27432">
                    <a:solidFill>
                      <a:srgbClr val="FFFFFF"/>
                    </a:solidFill>
                  </a:tcPr>
                </a:tc>
                <a:tc>
                  <a:txBody>
                    <a:bodyPr/>
                    <a:lstStyle/>
                    <a:p>
                      <a:pPr>
                        <a:defRPr sz="750">
                          <a:solidFill>
                            <a:srgbClr val="1E293B"/>
                          </a:solidFill>
                          <a:latin typeface="Aptos"/>
                        </a:defRPr>
                      </a:pPr>
                      <a:r>
                        <a:t>8x ST VL53L1X ToF LiDARs</a:t>
                      </a:r>
                    </a:p>
                  </a:txBody>
                  <a:tcPr marL="64008" marR="64008" marT="27432" marB="27432">
                    <a:solidFill>
                      <a:srgbClr val="FFFFFF"/>
                    </a:solidFill>
                  </a:tcPr>
                </a:tc>
                <a:tc>
                  <a:txBody>
                    <a:bodyPr/>
                    <a:lstStyle/>
                    <a:p>
                      <a:pPr>
                        <a:defRPr sz="750">
                          <a:solidFill>
                            <a:srgbClr val="1E293B"/>
                          </a:solidFill>
                          <a:latin typeface="Aptos"/>
                        </a:defRPr>
                      </a:pPr>
                      <a:r>
                        <a:t>360° environmental distance measurement across 0° and +25° planes</a:t>
                      </a:r>
                    </a:p>
                  </a:txBody>
                  <a:tcPr marL="64008" marR="64008" marT="27432" marB="27432">
                    <a:solidFill>
                      <a:srgbClr val="FFFFFF"/>
                    </a:solidFill>
                  </a:tcPr>
                </a:tc>
              </a:tr>
              <a:tr h="557784">
                <a:tc>
                  <a:txBody>
                    <a:bodyPr/>
                    <a:lstStyle/>
                    <a:p>
                      <a:pPr>
                        <a:defRPr sz="750">
                          <a:solidFill>
                            <a:srgbClr val="1E293B"/>
                          </a:solidFill>
                          <a:latin typeface="Aptos"/>
                        </a:defRPr>
                      </a:pPr>
                      <a:r>
                        <a:t>3</a:t>
                      </a:r>
                    </a:p>
                  </a:txBody>
                  <a:tcPr marL="64008" marR="64008" marT="27432" marB="27432">
                    <a:solidFill>
                      <a:srgbClr val="F8FAFC"/>
                    </a:solidFill>
                  </a:tcPr>
                </a:tc>
                <a:tc>
                  <a:txBody>
                    <a:bodyPr/>
                    <a:lstStyle/>
                    <a:p>
                      <a:pPr>
                        <a:defRPr sz="750">
                          <a:solidFill>
                            <a:srgbClr val="1E293B"/>
                          </a:solidFill>
                          <a:latin typeface="Aptos"/>
                        </a:defRPr>
                      </a:pPr>
                      <a:r>
                        <a:t>TCA9548A I²C Multiplexer</a:t>
                      </a:r>
                    </a:p>
                  </a:txBody>
                  <a:tcPr marL="64008" marR="64008" marT="27432" marB="27432">
                    <a:solidFill>
                      <a:srgbClr val="F8FAFC"/>
                    </a:solidFill>
                  </a:tcPr>
                </a:tc>
                <a:tc>
                  <a:txBody>
                    <a:bodyPr/>
                    <a:lstStyle/>
                    <a:p>
                      <a:pPr>
                        <a:defRPr sz="750">
                          <a:solidFill>
                            <a:srgbClr val="1E293B"/>
                          </a:solidFill>
                          <a:latin typeface="Aptos"/>
                        </a:defRPr>
                      </a:pPr>
                      <a:r>
                        <a:t>Eliminates I²C address conflicts and manages interleaved sensor polling</a:t>
                      </a:r>
                    </a:p>
                  </a:txBody>
                  <a:tcPr marL="64008" marR="64008" marT="27432" marB="27432">
                    <a:solidFill>
                      <a:srgbClr val="F8FAFC"/>
                    </a:solidFill>
                  </a:tcPr>
                </a:tc>
              </a:tr>
              <a:tr h="557784">
                <a:tc>
                  <a:txBody>
                    <a:bodyPr/>
                    <a:lstStyle/>
                    <a:p>
                      <a:pPr>
                        <a:defRPr sz="750">
                          <a:solidFill>
                            <a:srgbClr val="1E293B"/>
                          </a:solidFill>
                          <a:latin typeface="Aptos"/>
                        </a:defRPr>
                      </a:pPr>
                      <a:r>
                        <a:t>4</a:t>
                      </a:r>
                    </a:p>
                  </a:txBody>
                  <a:tcPr marL="64008" marR="64008" marT="27432" marB="27432">
                    <a:solidFill>
                      <a:srgbClr val="FFFFFF"/>
                    </a:solidFill>
                  </a:tcPr>
                </a:tc>
                <a:tc>
                  <a:txBody>
                    <a:bodyPr/>
                    <a:lstStyle/>
                    <a:p>
                      <a:pPr>
                        <a:defRPr sz="750">
                          <a:solidFill>
                            <a:srgbClr val="1E293B"/>
                          </a:solidFill>
                          <a:latin typeface="Aptos"/>
                        </a:defRPr>
                      </a:pPr>
                      <a:r>
                        <a:t>8x TI DRV2605L Haptic ICs</a:t>
                      </a:r>
                    </a:p>
                  </a:txBody>
                  <a:tcPr marL="64008" marR="64008" marT="27432" marB="27432">
                    <a:solidFill>
                      <a:srgbClr val="FFFFFF"/>
                    </a:solidFill>
                  </a:tcPr>
                </a:tc>
                <a:tc>
                  <a:txBody>
                    <a:bodyPr/>
                    <a:lstStyle/>
                    <a:p>
                      <a:pPr>
                        <a:defRPr sz="750">
                          <a:solidFill>
                            <a:srgbClr val="1E293B"/>
                          </a:solidFill>
                          <a:latin typeface="Aptos"/>
                        </a:defRPr>
                      </a:pPr>
                      <a:r>
                        <a:t>Provides auto-resonance tracking, 150 mA current limit, and crisp transients</a:t>
                      </a:r>
                    </a:p>
                  </a:txBody>
                  <a:tcPr marL="64008" marR="64008" marT="27432" marB="27432">
                    <a:solidFill>
                      <a:srgbClr val="FFFFFF"/>
                    </a:solidFill>
                  </a:tcPr>
                </a:tc>
              </a:tr>
              <a:tr h="557784">
                <a:tc>
                  <a:txBody>
                    <a:bodyPr/>
                    <a:lstStyle/>
                    <a:p>
                      <a:pPr>
                        <a:defRPr sz="750">
                          <a:solidFill>
                            <a:srgbClr val="1E293B"/>
                          </a:solidFill>
                          <a:latin typeface="Aptos"/>
                        </a:defRPr>
                      </a:pPr>
                      <a:r>
                        <a:t>5</a:t>
                      </a:r>
                    </a:p>
                  </a:txBody>
                  <a:tcPr marL="64008" marR="64008" marT="27432" marB="27432">
                    <a:solidFill>
                      <a:srgbClr val="F8FAFC"/>
                    </a:solidFill>
                  </a:tcPr>
                </a:tc>
                <a:tc>
                  <a:txBody>
                    <a:bodyPr/>
                    <a:lstStyle/>
                    <a:p>
                      <a:pPr>
                        <a:defRPr sz="750">
                          <a:solidFill>
                            <a:srgbClr val="1E293B"/>
                          </a:solidFill>
                          <a:latin typeface="Aptos"/>
                        </a:defRPr>
                      </a:pPr>
                      <a:r>
                        <a:t>8x 205 Hz LRA Coin Motors</a:t>
                      </a:r>
                    </a:p>
                  </a:txBody>
                  <a:tcPr marL="64008" marR="64008" marT="27432" marB="27432">
                    <a:solidFill>
                      <a:srgbClr val="F8FAFC"/>
                    </a:solidFill>
                  </a:tcPr>
                </a:tc>
                <a:tc>
                  <a:txBody>
                    <a:bodyPr/>
                    <a:lstStyle/>
                    <a:p>
                      <a:pPr>
                        <a:defRPr sz="750">
                          <a:solidFill>
                            <a:srgbClr val="1E293B"/>
                          </a:solidFill>
                          <a:latin typeface="Aptos"/>
                        </a:defRPr>
                      </a:pPr>
                      <a:r>
                        <a:t>Delivers localized vibrotactile pressure gradients to abdominal wall</a:t>
                      </a:r>
                    </a:p>
                  </a:txBody>
                  <a:tcPr marL="64008" marR="64008" marT="27432" marB="27432">
                    <a:solidFill>
                      <a:srgbClr val="F8FAFC"/>
                    </a:solidFill>
                  </a:tcPr>
                </a:tc>
              </a:tr>
              <a:tr h="557784">
                <a:tc>
                  <a:txBody>
                    <a:bodyPr/>
                    <a:lstStyle/>
                    <a:p>
                      <a:pPr>
                        <a:defRPr sz="750">
                          <a:solidFill>
                            <a:srgbClr val="1E293B"/>
                          </a:solidFill>
                          <a:latin typeface="Aptos"/>
                        </a:defRPr>
                      </a:pPr>
                      <a:r>
                        <a:t>6</a:t>
                      </a:r>
                    </a:p>
                  </a:txBody>
                  <a:tcPr marL="64008" marR="64008" marT="27432" marB="27432">
                    <a:solidFill>
                      <a:srgbClr val="FFFFFF"/>
                    </a:solidFill>
                  </a:tcPr>
                </a:tc>
                <a:tc>
                  <a:txBody>
                    <a:bodyPr/>
                    <a:lstStyle/>
                    <a:p>
                      <a:pPr>
                        <a:defRPr sz="750">
                          <a:solidFill>
                            <a:srgbClr val="1E293B"/>
                          </a:solidFill>
                          <a:latin typeface="Aptos"/>
                        </a:defRPr>
                      </a:pPr>
                      <a:r>
                        <a:t>BMI160 6-DOF IMU</a:t>
                      </a:r>
                    </a:p>
                  </a:txBody>
                  <a:tcPr marL="64008" marR="64008" marT="27432" marB="27432">
                    <a:solidFill>
                      <a:srgbClr val="FFFFFF"/>
                    </a:solidFill>
                  </a:tcPr>
                </a:tc>
                <a:tc>
                  <a:txBody>
                    <a:bodyPr/>
                    <a:lstStyle/>
                    <a:p>
                      <a:pPr>
                        <a:defRPr sz="750">
                          <a:solidFill>
                            <a:srgbClr val="1E293B"/>
                          </a:solidFill>
                          <a:latin typeface="Aptos"/>
                        </a:defRPr>
                      </a:pPr>
                      <a:r>
                        <a:t>Detects user movement; triggers 15 µA light sleep and 5 ms motion wake-up</a:t>
                      </a:r>
                    </a:p>
                  </a:txBody>
                  <a:tcPr marL="64008" marR="64008" marT="27432" marB="27432">
                    <a:solidFill>
                      <a:srgbClr val="FFFFFF"/>
                    </a:solidFill>
                  </a:tcPr>
                </a:tc>
              </a:tr>
              <a:tr h="557784">
                <a:tc>
                  <a:txBody>
                    <a:bodyPr/>
                    <a:lstStyle/>
                    <a:p>
                      <a:pPr>
                        <a:defRPr sz="750">
                          <a:solidFill>
                            <a:srgbClr val="1E293B"/>
                          </a:solidFill>
                          <a:latin typeface="Aptos"/>
                        </a:defRPr>
                      </a:pPr>
                      <a:r>
                        <a:t>7</a:t>
                      </a:r>
                    </a:p>
                  </a:txBody>
                  <a:tcPr marL="64008" marR="64008" marT="27432" marB="27432">
                    <a:solidFill>
                      <a:srgbClr val="F8FAFC"/>
                    </a:solidFill>
                  </a:tcPr>
                </a:tc>
                <a:tc>
                  <a:txBody>
                    <a:bodyPr/>
                    <a:lstStyle/>
                    <a:p>
                      <a:pPr>
                        <a:defRPr sz="750">
                          <a:solidFill>
                            <a:srgbClr val="1E293B"/>
                          </a:solidFill>
                          <a:latin typeface="Aptos"/>
                        </a:defRPr>
                      </a:pPr>
                      <a:r>
                        <a:t>3.7V 2500mAh Li-ion + BMS</a:t>
                      </a:r>
                    </a:p>
                  </a:txBody>
                  <a:tcPr marL="64008" marR="64008" marT="27432" marB="27432">
                    <a:solidFill>
                      <a:srgbClr val="F8FAFC"/>
                    </a:solidFill>
                  </a:tcPr>
                </a:tc>
                <a:tc>
                  <a:txBody>
                    <a:bodyPr/>
                    <a:lstStyle/>
                    <a:p>
                      <a:pPr>
                        <a:defRPr sz="750">
                          <a:solidFill>
                            <a:srgbClr val="1E293B"/>
                          </a:solidFill>
                          <a:latin typeface="Aptos"/>
                        </a:defRPr>
                      </a:pPr>
                      <a:r>
                        <a:t>Portable rechargeable power with hardware over/under voltage protection</a:t>
                      </a:r>
                    </a:p>
                  </a:txBody>
                  <a:tcPr marL="64008" marR="64008" marT="27432" marB="27432">
                    <a:solidFill>
                      <a:srgbClr val="F8FAFC"/>
                    </a:solidFill>
                  </a:tcPr>
                </a:tc>
              </a:tr>
              <a:tr h="557784">
                <a:tc>
                  <a:txBody>
                    <a:bodyPr/>
                    <a:lstStyle/>
                    <a:p>
                      <a:pPr>
                        <a:defRPr sz="750">
                          <a:solidFill>
                            <a:srgbClr val="1E293B"/>
                          </a:solidFill>
                          <a:latin typeface="Aptos"/>
                        </a:defRPr>
                      </a:pPr>
                      <a:r>
                        <a:t>8</a:t>
                      </a:r>
                    </a:p>
                  </a:txBody>
                  <a:tcPr marL="64008" marR="64008" marT="27432" marB="27432">
                    <a:solidFill>
                      <a:srgbClr val="FFFFFF"/>
                    </a:solidFill>
                  </a:tcPr>
                </a:tc>
                <a:tc>
                  <a:txBody>
                    <a:bodyPr/>
                    <a:lstStyle/>
                    <a:p>
                      <a:pPr>
                        <a:defRPr sz="750">
                          <a:solidFill>
                            <a:srgbClr val="1E293B"/>
                          </a:solidFill>
                          <a:latin typeface="Aptos"/>
                        </a:defRPr>
                      </a:pPr>
                      <a:r>
                        <a:t>USB-C &amp; BLE Interfaces</a:t>
                      </a:r>
                    </a:p>
                  </a:txBody>
                  <a:tcPr marL="64008" marR="64008" marT="27432" marB="27432">
                    <a:solidFill>
                      <a:srgbClr val="FFFFFF"/>
                    </a:solidFill>
                  </a:tcPr>
                </a:tc>
                <a:tc>
                  <a:txBody>
                    <a:bodyPr/>
                    <a:lstStyle/>
                    <a:p>
                      <a:pPr>
                        <a:defRPr sz="750">
                          <a:solidFill>
                            <a:srgbClr val="1E293B"/>
                          </a:solidFill>
                          <a:latin typeface="Aptos"/>
                        </a:defRPr>
                      </a:pPr>
                      <a:r>
                        <a:t>Safe battery charging, firmware flashing, and accessible companion link</a:t>
                      </a:r>
                    </a:p>
                  </a:txBody>
                  <a:tcPr marL="64008" marR="64008" marT="27432" marB="27432">
                    <a:solidFill>
                      <a:srgbClr val="FFFFFF"/>
                    </a:solidFill>
                  </a:tcPr>
                </a:tc>
              </a:tr>
              <a:tr h="557784">
                <a:tc>
                  <a:txBody>
                    <a:bodyPr/>
                    <a:lstStyle/>
                    <a:p>
                      <a:pPr>
                        <a:defRPr sz="750">
                          <a:solidFill>
                            <a:srgbClr val="1E293B"/>
                          </a:solidFill>
                          <a:latin typeface="Aptos"/>
                        </a:defRPr>
                      </a:pPr>
                      <a:r>
                        <a:t>9</a:t>
                      </a:r>
                    </a:p>
                  </a:txBody>
                  <a:tcPr marL="64008" marR="64008" marT="27432" marB="27432">
                    <a:solidFill>
                      <a:srgbClr val="F8FAFC"/>
                    </a:solidFill>
                  </a:tcPr>
                </a:tc>
                <a:tc>
                  <a:txBody>
                    <a:bodyPr/>
                    <a:lstStyle/>
                    <a:p>
                      <a:pPr>
                        <a:defRPr sz="750">
                          <a:solidFill>
                            <a:srgbClr val="1E293B"/>
                          </a:solidFill>
                          <a:latin typeface="Aptos"/>
                        </a:defRPr>
                      </a:pPr>
                      <a:r>
                        <a:t>Neoprene Belt &amp; TPU Pods</a:t>
                      </a:r>
                    </a:p>
                  </a:txBody>
                  <a:tcPr marL="64008" marR="64008" marT="27432" marB="27432">
                    <a:solidFill>
                      <a:srgbClr val="F8FAFC"/>
                    </a:solidFill>
                  </a:tcPr>
                </a:tc>
                <a:tc>
                  <a:txBody>
                    <a:bodyPr/>
                    <a:lstStyle/>
                    <a:p>
                      <a:pPr>
                        <a:defRPr sz="750">
                          <a:solidFill>
                            <a:srgbClr val="1E293B"/>
                          </a:solidFill>
                          <a:latin typeface="Aptos"/>
                        </a:defRPr>
                      </a:pPr>
                      <a:r>
                        <a:t>Ergonomic wearable integration, IP54 ingress protection, and cable harness</a:t>
                      </a:r>
                    </a:p>
                  </a:txBody>
                  <a:tcPr marL="64008" marR="64008" marT="27432" marB="27432">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CAD DESIGN &amp; MECHANICAL SPECS</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MECHANICAL PACKAGING &amp; ERGONOMICS</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atial_sense_worn.jpg"/>
          <p:cNvPicPr>
            <a:picLocks noChangeAspect="1"/>
          </p:cNvPicPr>
          <p:nvPr/>
        </p:nvPicPr>
        <p:blipFill>
          <a:blip r:embed="rId4"/>
          <a:stretch>
            <a:fillRect/>
          </a:stretch>
        </p:blipFill>
        <p:spPr>
          <a:xfrm>
            <a:off x="365760" y="777240"/>
            <a:ext cx="5577840" cy="3017520"/>
          </a:xfrm>
          <a:prstGeom prst="rect">
            <a:avLst/>
          </a:prstGeom>
        </p:spPr>
      </p:pic>
      <p:sp>
        <p:nvSpPr>
          <p:cNvPr id="8" name="Rounded Rectangle 7"/>
          <p:cNvSpPr/>
          <p:nvPr/>
        </p:nvSpPr>
        <p:spPr>
          <a:xfrm>
            <a:off x="365760" y="3474720"/>
            <a:ext cx="5577840" cy="32004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a:solidFill>
                  <a:srgbClr val="FFFFFF"/>
                </a:solidFill>
                <a:latin typeface="Aptos"/>
              </a:defRPr>
            </a:pPr>
            <a:r>
              <a:t>Assembled CAD Concept: Ergonomic Waistband with 8 Modular Dual-Elevation Pods</a:t>
            </a:r>
          </a:p>
        </p:txBody>
      </p:sp>
      <p:pic>
        <p:nvPicPr>
          <p:cNvPr id="9" name="Picture 8" descr="spatial_sense_exploded.jpg"/>
          <p:cNvPicPr>
            <a:picLocks noChangeAspect="1"/>
          </p:cNvPicPr>
          <p:nvPr/>
        </p:nvPicPr>
        <p:blipFill>
          <a:blip r:embed="rId5"/>
          <a:stretch>
            <a:fillRect/>
          </a:stretch>
        </p:blipFill>
        <p:spPr>
          <a:xfrm>
            <a:off x="6217920" y="777240"/>
            <a:ext cx="5577840" cy="3017520"/>
          </a:xfrm>
          <a:prstGeom prst="rect">
            <a:avLst/>
          </a:prstGeom>
        </p:spPr>
      </p:pic>
      <p:sp>
        <p:nvSpPr>
          <p:cNvPr id="10" name="Rounded Rectangle 9"/>
          <p:cNvSpPr/>
          <p:nvPr/>
        </p:nvSpPr>
        <p:spPr>
          <a:xfrm>
            <a:off x="6217920" y="3474720"/>
            <a:ext cx="5577840" cy="32004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a:solidFill>
                  <a:srgbClr val="FFFFFF"/>
                </a:solidFill>
                <a:latin typeface="Aptos"/>
              </a:defRPr>
            </a:pPr>
            <a:r>
              <a:t>Exploded Assembly: Modular TPU Pods, ToF Sensors, LRAs, FPC Harness &amp; Enclosure</a:t>
            </a:r>
          </a:p>
        </p:txBody>
      </p:sp>
      <p:sp>
        <p:nvSpPr>
          <p:cNvPr id="11" name="Rounded Rectangle 10"/>
          <p:cNvSpPr/>
          <p:nvPr/>
        </p:nvSpPr>
        <p:spPr>
          <a:xfrm>
            <a:off x="365760" y="3931920"/>
            <a:ext cx="5577840" cy="2468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900" b="1">
                <a:solidFill>
                  <a:srgbClr val="0070AE"/>
                </a:solidFill>
                <a:latin typeface="Aptos"/>
              </a:defRPr>
            </a:pPr>
            <a:r>
              <a:t>ENCLOSURE &amp; WEARABLE INTEGRATION</a:t>
            </a:r>
          </a:p>
          <a:p>
            <a:pPr>
              <a:defRPr sz="750">
                <a:solidFill>
                  <a:srgbClr val="1E293B"/>
                </a:solidFill>
                <a:latin typeface="Aptos"/>
              </a:defRPr>
            </a:pPr>
            <a:r>
              <a:t>• Ergonomic Belt: Breathable, contoured neoprene belt with micro-velcro adjustment (waist 26–44 in), keeping total wearable weight under 320 grams.</a:t>
            </a:r>
            <a:br/>
            <a:r>
              <a:t>• Modular Sensor Pods: Eight injection-molded TPU pods with internal silicone dampening gaskets to isolate LRA vibration from optical ToF sensor cavities.</a:t>
            </a:r>
            <a:br/>
            <a:r>
              <a:t>• Flexible Harness: 2-layer polyimide flexible printed circuit (FPC) routing power and I²C buses with zero exposed wires, eliminating clothing snag risks.</a:t>
            </a:r>
            <a:br/>
            <a:r>
              <a:t>• Electronics &amp; Battery Housing: Contoured rear enclosure securing the ESP32-S3 board, BMS, and 2500 mAh cell with magnetic alignment.</a:t>
            </a:r>
            <a:br/>
            <a:r>
              <a:t>• Accessible Interface: Tactile raised hardware self-test button and recessed USB-C charge port operable entirely without sight.</a:t>
            </a:r>
            <a:br/>
            <a:r>
              <a:t>• Serviceability: Snap-fit pod shells permit individual sensor or actuator replacement in the field without replacing the entire belt assembly.</a:t>
            </a:r>
          </a:p>
        </p:txBody>
      </p:sp>
      <p:sp>
        <p:nvSpPr>
          <p:cNvPr id="12" name="Rounded Rectangle 11"/>
          <p:cNvSpPr/>
          <p:nvPr/>
        </p:nvSpPr>
        <p:spPr>
          <a:xfrm>
            <a:off x="6217920" y="3931920"/>
            <a:ext cx="5577840" cy="2468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900" b="1">
                <a:solidFill>
                  <a:srgbClr val="166534"/>
                </a:solidFill>
                <a:latin typeface="Aptos"/>
              </a:defRPr>
            </a:pPr>
            <a:r>
              <a:t>MECHANICAL DESIGN &amp; VALIDATION PROTOCOLS</a:t>
            </a:r>
          </a:p>
          <a:p>
            <a:pPr>
              <a:defRPr sz="750">
                <a:solidFill>
                  <a:srgbClr val="1E293B"/>
                </a:solidFill>
                <a:latin typeface="Aptos"/>
              </a:defRPr>
            </a:pPr>
            <a:r>
              <a:t>• Ergonomic Fit Assessment: User trials measuring torso contact pressure across walking, sitting, and bending to prevent localized chafing.</a:t>
            </a:r>
            <a:br/>
            <a:r>
              <a:t>• Optical Geometry Alignment: Precision jig verification ensuring 0° sensors remain within ±1.5° horizontal and +25° sensors maintain vertical cone.</a:t>
            </a:r>
            <a:br/>
            <a:r>
              <a:t>• Dynamic Gait Pod Stability: Accelerometer-based shake tests verifying pod retention and consistent skin-to-LRA acoustic coupling during walking.</a:t>
            </a:r>
            <a:br/>
            <a:r>
              <a:t>• Cable Strain Relief: 5,000-cycle cyclic bending test on FPC pod junctions at 90° radius to verify copper fatigue resilience.</a:t>
            </a:r>
            <a:br/>
            <a:r>
              <a:t>• Environmental Resistance: Ingress testing planned against IP54 dust and omnidirectional water splash standards.</a:t>
            </a:r>
            <a:br/>
            <a:r>
              <a:t>• Thermal Profiling: Thermocouple measurement targeting skin-facing contact surface &lt;34.5°C under continuous 60-min resonance actuation.</a:t>
            </a:r>
            <a:br/>
            <a:r>
              <a:t>• Accessibility Verification: Blindfolded donning, adjustment, and buckle fastening evaluation conducted with assistive technology specialists.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ELECTRONICS SCHEMATICS &amp; BOM</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ELECTRICAL SCHEMATICS &amp; BILL OF MATERIALS</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hematic_sheet1.png"/>
          <p:cNvPicPr>
            <a:picLocks noChangeAspect="1"/>
          </p:cNvPicPr>
          <p:nvPr/>
        </p:nvPicPr>
        <p:blipFill>
          <a:blip r:embed="rId4"/>
          <a:stretch>
            <a:fillRect/>
          </a:stretch>
        </p:blipFill>
        <p:spPr>
          <a:xfrm>
            <a:off x="365760" y="777240"/>
            <a:ext cx="3017520" cy="2103120"/>
          </a:xfrm>
          <a:prstGeom prst="rect">
            <a:avLst/>
          </a:prstGeom>
        </p:spPr>
      </p:pic>
      <p:pic>
        <p:nvPicPr>
          <p:cNvPr id="8" name="Picture 7" descr="schematic_sheet2.png"/>
          <p:cNvPicPr>
            <a:picLocks noChangeAspect="1"/>
          </p:cNvPicPr>
          <p:nvPr/>
        </p:nvPicPr>
        <p:blipFill>
          <a:blip r:embed="rId5"/>
          <a:stretch>
            <a:fillRect/>
          </a:stretch>
        </p:blipFill>
        <p:spPr>
          <a:xfrm>
            <a:off x="3566160" y="777240"/>
            <a:ext cx="3017520" cy="2103120"/>
          </a:xfrm>
          <a:prstGeom prst="rect">
            <a:avLst/>
          </a:prstGeom>
        </p:spPr>
      </p:pic>
      <p:pic>
        <p:nvPicPr>
          <p:cNvPr id="9" name="Picture 8" descr="schematic_sheet3.png"/>
          <p:cNvPicPr>
            <a:picLocks noChangeAspect="1"/>
          </p:cNvPicPr>
          <p:nvPr/>
        </p:nvPicPr>
        <p:blipFill>
          <a:blip r:embed="rId6"/>
          <a:stretch>
            <a:fillRect/>
          </a:stretch>
        </p:blipFill>
        <p:spPr>
          <a:xfrm>
            <a:off x="365760" y="2971800"/>
            <a:ext cx="3017520" cy="2103120"/>
          </a:xfrm>
          <a:prstGeom prst="rect">
            <a:avLst/>
          </a:prstGeom>
        </p:spPr>
      </p:pic>
      <p:pic>
        <p:nvPicPr>
          <p:cNvPr id="10" name="Picture 9" descr="schematic_sheet4.png"/>
          <p:cNvPicPr>
            <a:picLocks noChangeAspect="1"/>
          </p:cNvPicPr>
          <p:nvPr/>
        </p:nvPicPr>
        <p:blipFill>
          <a:blip r:embed="rId7"/>
          <a:stretch>
            <a:fillRect/>
          </a:stretch>
        </p:blipFill>
        <p:spPr>
          <a:xfrm>
            <a:off x="3566160" y="2971800"/>
            <a:ext cx="3017520" cy="2103120"/>
          </a:xfrm>
          <a:prstGeom prst="rect">
            <a:avLst/>
          </a:prstGeom>
        </p:spPr>
      </p:pic>
      <p:sp>
        <p:nvSpPr>
          <p:cNvPr id="11" name="Rounded Rectangle 10"/>
          <p:cNvSpPr/>
          <p:nvPr/>
        </p:nvSpPr>
        <p:spPr>
          <a:xfrm>
            <a:off x="365760" y="5166360"/>
            <a:ext cx="6217920" cy="12344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defRPr sz="800" b="1">
                <a:solidFill>
                  <a:srgbClr val="1A3670"/>
                </a:solidFill>
                <a:latin typeface="Aptos"/>
              </a:defRPr>
            </a:pPr>
            <a:r>
              <a:t>ELECTRICAL ARCHITECTURE NOTES</a:t>
            </a:r>
          </a:p>
          <a:p>
            <a:pPr>
              <a:defRPr sz="700">
                <a:solidFill>
                  <a:srgbClr val="1E293B"/>
                </a:solidFill>
                <a:latin typeface="Aptos"/>
              </a:defRPr>
            </a:pPr>
            <a:r>
              <a:t>• Sheet 1: Fast-Mode I²C Bus 0 (400 kHz) interfaces TCA9548A mux to 8x VL53L1X ToF sensors with individual XSHUT control lines.</a:t>
            </a:r>
            <a:br/>
            <a:r>
              <a:t>• Sheet 2: Independent I²C Bus 1 interfaces 8x TI DRV2605L drivers; auto-tracks 205 Hz resonance with 150 mA hardware current limit.</a:t>
            </a:r>
            <a:br/>
            <a:r>
              <a:t>• Sheet 3: 3.7V 2500mAh Li-ion battery with hardware BMS (4.25V OVP, 2.8V UVP, 2A OCP) and low-noise 3.3V buck-boost regulation.</a:t>
            </a:r>
            <a:br/>
            <a:r>
              <a:t>• Sheet 4: BMI160 6-DOF IMU triggers ULP 15µA light sleep / 5ms wake-up; BLE 5.0 provides offline-first TalkBack/VoiceOver telemetry.</a:t>
            </a:r>
          </a:p>
        </p:txBody>
      </p:sp>
      <p:graphicFrame>
        <p:nvGraphicFramePr>
          <p:cNvPr id="12" name="Table 11"/>
          <p:cNvGraphicFramePr>
            <a:graphicFrameLocks noGrp="1"/>
          </p:cNvGraphicFramePr>
          <p:nvPr/>
        </p:nvGraphicFramePr>
        <p:xfrm>
          <a:off x="6858000" y="777240"/>
          <a:ext cx="4937760" cy="3474720"/>
        </p:xfrm>
        <a:graphic>
          <a:graphicData uri="http://schemas.openxmlformats.org/drawingml/2006/table">
            <a:tbl>
              <a:tblPr firstRow="1" bandRow="1">
                <a:tableStyleId>{5C22544A-7EE6-4342-B048-85BDC9FD1C3A}</a:tableStyleId>
              </a:tblPr>
              <a:tblGrid>
                <a:gridCol w="1645920"/>
                <a:gridCol w="1645920"/>
                <a:gridCol w="731520"/>
                <a:gridCol w="914400"/>
              </a:tblGrid>
              <a:tr h="496388">
                <a:tc>
                  <a:txBody>
                    <a:bodyPr/>
                    <a:lstStyle/>
                    <a:p>
                      <a:pPr>
                        <a:defRPr sz="800" b="1">
                          <a:solidFill>
                            <a:srgbClr val="FFFFFF"/>
                          </a:solidFill>
                          <a:latin typeface="Aptos"/>
                        </a:defRPr>
                      </a:pPr>
                      <a:r>
                        <a:t>SUBSYSTEM</a:t>
                      </a:r>
                    </a:p>
                  </a:txBody>
                  <a:tcPr marL="64008" marR="64008" marT="36576" marB="36576">
                    <a:solidFill>
                      <a:srgbClr val="1A3670"/>
                    </a:solidFill>
                  </a:tcPr>
                </a:tc>
                <a:tc>
                  <a:txBody>
                    <a:bodyPr/>
                    <a:lstStyle/>
                    <a:p>
                      <a:pPr>
                        <a:defRPr sz="800" b="1">
                          <a:solidFill>
                            <a:srgbClr val="FFFFFF"/>
                          </a:solidFill>
                          <a:latin typeface="Aptos"/>
                        </a:defRPr>
                      </a:pPr>
                      <a:r>
                        <a:t>PART DESIGNATION</a:t>
                      </a:r>
                    </a:p>
                  </a:txBody>
                  <a:tcPr marL="64008" marR="64008" marT="36576" marB="36576">
                    <a:solidFill>
                      <a:srgbClr val="1A3670"/>
                    </a:solidFill>
                  </a:tcPr>
                </a:tc>
                <a:tc>
                  <a:txBody>
                    <a:bodyPr/>
                    <a:lstStyle/>
                    <a:p>
                      <a:pPr>
                        <a:defRPr sz="800" b="1">
                          <a:solidFill>
                            <a:srgbClr val="FFFFFF"/>
                          </a:solidFill>
                          <a:latin typeface="Aptos"/>
                        </a:defRPr>
                      </a:pPr>
                      <a:r>
                        <a:t>QTY</a:t>
                      </a:r>
                    </a:p>
                  </a:txBody>
                  <a:tcPr marL="64008" marR="64008" marT="36576" marB="36576">
                    <a:solidFill>
                      <a:srgbClr val="1A3670"/>
                    </a:solidFill>
                  </a:tcPr>
                </a:tc>
                <a:tc>
                  <a:txBody>
                    <a:bodyPr/>
                    <a:lstStyle/>
                    <a:p>
                      <a:pPr>
                        <a:defRPr sz="800" b="1">
                          <a:solidFill>
                            <a:srgbClr val="FFFFFF"/>
                          </a:solidFill>
                          <a:latin typeface="Aptos"/>
                        </a:defRPr>
                      </a:pPr>
                      <a:r>
                        <a:t>EST. COST</a:t>
                      </a:r>
                    </a:p>
                  </a:txBody>
                  <a:tcPr marL="64008" marR="64008" marT="36576" marB="36576">
                    <a:solidFill>
                      <a:srgbClr val="1A3670"/>
                    </a:solidFill>
                  </a:tcPr>
                </a:tc>
              </a:tr>
              <a:tr h="496388">
                <a:tc>
                  <a:txBody>
                    <a:bodyPr/>
                    <a:lstStyle/>
                    <a:p>
                      <a:pPr>
                        <a:defRPr sz="750">
                          <a:solidFill>
                            <a:srgbClr val="1E293B"/>
                          </a:solidFill>
                          <a:latin typeface="Aptos"/>
                        </a:defRPr>
                      </a:pPr>
                      <a:r>
                        <a:t>Core Processing &amp; Power</a:t>
                      </a:r>
                    </a:p>
                  </a:txBody>
                  <a:tcPr marL="64008" marR="64008" marT="27432" marB="27432">
                    <a:solidFill>
                      <a:srgbClr val="F8FAFC"/>
                    </a:solidFill>
                  </a:tcPr>
                </a:tc>
                <a:tc>
                  <a:txBody>
                    <a:bodyPr/>
                    <a:lstStyle/>
                    <a:p>
                      <a:pPr>
                        <a:defRPr sz="750">
                          <a:solidFill>
                            <a:srgbClr val="1E293B"/>
                          </a:solidFill>
                          <a:latin typeface="Aptos"/>
                        </a:defRPr>
                      </a:pPr>
                      <a:r>
                        <a:t>ESP32-S3-WROOM-1 + BMS + 2500mAh Li-ion</a:t>
                      </a:r>
                    </a:p>
                  </a:txBody>
                  <a:tcPr marL="64008" marR="64008" marT="27432" marB="27432">
                    <a:solidFill>
                      <a:srgbClr val="F8FAFC"/>
                    </a:solidFill>
                  </a:tcPr>
                </a:tc>
                <a:tc>
                  <a:txBody>
                    <a:bodyPr/>
                    <a:lstStyle/>
                    <a:p>
                      <a:pPr>
                        <a:defRPr sz="750">
                          <a:solidFill>
                            <a:srgbClr val="1E293B"/>
                          </a:solidFill>
                          <a:latin typeface="Aptos"/>
                        </a:defRPr>
                      </a:pPr>
                      <a:r>
                        <a:t>1 Set</a:t>
                      </a:r>
                    </a:p>
                  </a:txBody>
                  <a:tcPr marL="64008" marR="64008" marT="27432" marB="27432">
                    <a:solidFill>
                      <a:srgbClr val="F8FAFC"/>
                    </a:solidFill>
                  </a:tcPr>
                </a:tc>
                <a:tc>
                  <a:txBody>
                    <a:bodyPr/>
                    <a:lstStyle/>
                    <a:p>
                      <a:pPr>
                        <a:defRPr sz="750">
                          <a:solidFill>
                            <a:srgbClr val="1E293B"/>
                          </a:solidFill>
                          <a:latin typeface="Aptos"/>
                        </a:defRPr>
                      </a:pPr>
                      <a:r>
                        <a:t>₹1,450</a:t>
                      </a:r>
                    </a:p>
                  </a:txBody>
                  <a:tcPr marL="64008" marR="64008" marT="27432" marB="27432">
                    <a:solidFill>
                      <a:srgbClr val="F8FAFC"/>
                    </a:solidFill>
                  </a:tcPr>
                </a:tc>
              </a:tr>
              <a:tr h="496388">
                <a:tc>
                  <a:txBody>
                    <a:bodyPr/>
                    <a:lstStyle/>
                    <a:p>
                      <a:pPr>
                        <a:defRPr sz="750">
                          <a:solidFill>
                            <a:srgbClr val="1E293B"/>
                          </a:solidFill>
                          <a:latin typeface="Aptos"/>
                        </a:defRPr>
                      </a:pPr>
                      <a:r>
                        <a:t>Optical Sensing Array</a:t>
                      </a:r>
                    </a:p>
                  </a:txBody>
                  <a:tcPr marL="64008" marR="64008" marT="27432" marB="27432">
                    <a:solidFill>
                      <a:srgbClr val="FFFFFF"/>
                    </a:solidFill>
                  </a:tcPr>
                </a:tc>
                <a:tc>
                  <a:txBody>
                    <a:bodyPr/>
                    <a:lstStyle/>
                    <a:p>
                      <a:pPr>
                        <a:defRPr sz="750">
                          <a:solidFill>
                            <a:srgbClr val="1E293B"/>
                          </a:solidFill>
                          <a:latin typeface="Aptos"/>
                        </a:defRPr>
                      </a:pPr>
                      <a:r>
                        <a:t>ST VL53L1X ToF Sensors + Optics</a:t>
                      </a:r>
                    </a:p>
                  </a:txBody>
                  <a:tcPr marL="64008" marR="64008" marT="27432" marB="27432">
                    <a:solidFill>
                      <a:srgbClr val="FFFFFF"/>
                    </a:solidFill>
                  </a:tcPr>
                </a:tc>
                <a:tc>
                  <a:txBody>
                    <a:bodyPr/>
                    <a:lstStyle/>
                    <a:p>
                      <a:pPr>
                        <a:defRPr sz="750">
                          <a:solidFill>
                            <a:srgbClr val="1E293B"/>
                          </a:solidFill>
                          <a:latin typeface="Aptos"/>
                        </a:defRPr>
                      </a:pPr>
                      <a:r>
                        <a:t>8 Units</a:t>
                      </a:r>
                    </a:p>
                  </a:txBody>
                  <a:tcPr marL="64008" marR="64008" marT="27432" marB="27432">
                    <a:solidFill>
                      <a:srgbClr val="FFFFFF"/>
                    </a:solidFill>
                  </a:tcPr>
                </a:tc>
                <a:tc>
                  <a:txBody>
                    <a:bodyPr/>
                    <a:lstStyle/>
                    <a:p>
                      <a:pPr>
                        <a:defRPr sz="750">
                          <a:solidFill>
                            <a:srgbClr val="1E293B"/>
                          </a:solidFill>
                          <a:latin typeface="Aptos"/>
                        </a:defRPr>
                      </a:pPr>
                      <a:r>
                        <a:t>₹3,200</a:t>
                      </a:r>
                    </a:p>
                  </a:txBody>
                  <a:tcPr marL="64008" marR="64008" marT="27432" marB="27432">
                    <a:solidFill>
                      <a:srgbClr val="FFFFFF"/>
                    </a:solidFill>
                  </a:tcPr>
                </a:tc>
              </a:tr>
              <a:tr h="496388">
                <a:tc>
                  <a:txBody>
                    <a:bodyPr/>
                    <a:lstStyle/>
                    <a:p>
                      <a:pPr>
                        <a:defRPr sz="750">
                          <a:solidFill>
                            <a:srgbClr val="1E293B"/>
                          </a:solidFill>
                          <a:latin typeface="Aptos"/>
                        </a:defRPr>
                      </a:pPr>
                      <a:r>
                        <a:t>Multiplexed Haptic Drivers</a:t>
                      </a:r>
                    </a:p>
                  </a:txBody>
                  <a:tcPr marL="64008" marR="64008" marT="27432" marB="27432">
                    <a:solidFill>
                      <a:srgbClr val="F8FAFC"/>
                    </a:solidFill>
                  </a:tcPr>
                </a:tc>
                <a:tc>
                  <a:txBody>
                    <a:bodyPr/>
                    <a:lstStyle/>
                    <a:p>
                      <a:pPr>
                        <a:defRPr sz="750">
                          <a:solidFill>
                            <a:srgbClr val="1E293B"/>
                          </a:solidFill>
                          <a:latin typeface="Aptos"/>
                        </a:defRPr>
                      </a:pPr>
                      <a:r>
                        <a:t>TI DRV2605L + TCA9548A Mux PCB</a:t>
                      </a:r>
                    </a:p>
                  </a:txBody>
                  <a:tcPr marL="64008" marR="64008" marT="27432" marB="27432">
                    <a:solidFill>
                      <a:srgbClr val="F8FAFC"/>
                    </a:solidFill>
                  </a:tcPr>
                </a:tc>
                <a:tc>
                  <a:txBody>
                    <a:bodyPr/>
                    <a:lstStyle/>
                    <a:p>
                      <a:pPr>
                        <a:defRPr sz="750">
                          <a:solidFill>
                            <a:srgbClr val="1E293B"/>
                          </a:solidFill>
                          <a:latin typeface="Aptos"/>
                        </a:defRPr>
                      </a:pPr>
                      <a:r>
                        <a:t>8 Drivers + Mux</a:t>
                      </a:r>
                    </a:p>
                  </a:txBody>
                  <a:tcPr marL="64008" marR="64008" marT="27432" marB="27432">
                    <a:solidFill>
                      <a:srgbClr val="F8FAFC"/>
                    </a:solidFill>
                  </a:tcPr>
                </a:tc>
                <a:tc>
                  <a:txBody>
                    <a:bodyPr/>
                    <a:lstStyle/>
                    <a:p>
                      <a:pPr>
                        <a:defRPr sz="750">
                          <a:solidFill>
                            <a:srgbClr val="1E293B"/>
                          </a:solidFill>
                          <a:latin typeface="Aptos"/>
                        </a:defRPr>
                      </a:pPr>
                      <a:r>
                        <a:t>₹2,100</a:t>
                      </a:r>
                    </a:p>
                  </a:txBody>
                  <a:tcPr marL="64008" marR="64008" marT="27432" marB="27432">
                    <a:solidFill>
                      <a:srgbClr val="F8FAFC"/>
                    </a:solidFill>
                  </a:tcPr>
                </a:tc>
              </a:tr>
              <a:tr h="496388">
                <a:tc>
                  <a:txBody>
                    <a:bodyPr/>
                    <a:lstStyle/>
                    <a:p>
                      <a:pPr>
                        <a:defRPr sz="750">
                          <a:solidFill>
                            <a:srgbClr val="1E293B"/>
                          </a:solidFill>
                          <a:latin typeface="Aptos"/>
                        </a:defRPr>
                      </a:pPr>
                      <a:r>
                        <a:t>Resonant Actuators</a:t>
                      </a:r>
                    </a:p>
                  </a:txBody>
                  <a:tcPr marL="64008" marR="64008" marT="27432" marB="27432">
                    <a:solidFill>
                      <a:srgbClr val="FFFFFF"/>
                    </a:solidFill>
                  </a:tcPr>
                </a:tc>
                <a:tc>
                  <a:txBody>
                    <a:bodyPr/>
                    <a:lstStyle/>
                    <a:p>
                      <a:pPr>
                        <a:defRPr sz="750">
                          <a:solidFill>
                            <a:srgbClr val="1E293B"/>
                          </a:solidFill>
                          <a:latin typeface="Aptos"/>
                        </a:defRPr>
                      </a:pPr>
                      <a:r>
                        <a:t>Precision 205Hz LRA Coin Actuators</a:t>
                      </a:r>
                    </a:p>
                  </a:txBody>
                  <a:tcPr marL="64008" marR="64008" marT="27432" marB="27432">
                    <a:solidFill>
                      <a:srgbClr val="FFFFFF"/>
                    </a:solidFill>
                  </a:tcPr>
                </a:tc>
                <a:tc>
                  <a:txBody>
                    <a:bodyPr/>
                    <a:lstStyle/>
                    <a:p>
                      <a:pPr>
                        <a:defRPr sz="750">
                          <a:solidFill>
                            <a:srgbClr val="1E293B"/>
                          </a:solidFill>
                          <a:latin typeface="Aptos"/>
                        </a:defRPr>
                      </a:pPr>
                      <a:r>
                        <a:t>8 Units</a:t>
                      </a:r>
                    </a:p>
                  </a:txBody>
                  <a:tcPr marL="64008" marR="64008" marT="27432" marB="27432">
                    <a:solidFill>
                      <a:srgbClr val="FFFFFF"/>
                    </a:solidFill>
                  </a:tcPr>
                </a:tc>
                <a:tc>
                  <a:txBody>
                    <a:bodyPr/>
                    <a:lstStyle/>
                    <a:p>
                      <a:pPr>
                        <a:defRPr sz="750">
                          <a:solidFill>
                            <a:srgbClr val="1E293B"/>
                          </a:solidFill>
                          <a:latin typeface="Aptos"/>
                        </a:defRPr>
                      </a:pPr>
                      <a:r>
                        <a:t>₹1,250</a:t>
                      </a:r>
                    </a:p>
                  </a:txBody>
                  <a:tcPr marL="64008" marR="64008" marT="27432" marB="27432">
                    <a:solidFill>
                      <a:srgbClr val="FFFFFF"/>
                    </a:solidFill>
                  </a:tcPr>
                </a:tc>
              </a:tr>
              <a:tr h="496388">
                <a:tc>
                  <a:txBody>
                    <a:bodyPr/>
                    <a:lstStyle/>
                    <a:p>
                      <a:pPr>
                        <a:defRPr sz="750">
                          <a:solidFill>
                            <a:srgbClr val="1E293B"/>
                          </a:solidFill>
                          <a:latin typeface="Aptos"/>
                        </a:defRPr>
                      </a:pPr>
                      <a:r>
                        <a:t>Harness, Enclosure &amp; Belt</a:t>
                      </a:r>
                    </a:p>
                  </a:txBody>
                  <a:tcPr marL="64008" marR="64008" marT="27432" marB="27432">
                    <a:solidFill>
                      <a:srgbClr val="F8FAFC"/>
                    </a:solidFill>
                  </a:tcPr>
                </a:tc>
                <a:tc>
                  <a:txBody>
                    <a:bodyPr/>
                    <a:lstStyle/>
                    <a:p>
                      <a:pPr>
                        <a:defRPr sz="750">
                          <a:solidFill>
                            <a:srgbClr val="1E293B"/>
                          </a:solidFill>
                          <a:latin typeface="Aptos"/>
                        </a:defRPr>
                      </a:pPr>
                      <a:r>
                        <a:t>Modular TPU Pods, Neoprene Belt &amp; FPC</a:t>
                      </a:r>
                    </a:p>
                  </a:txBody>
                  <a:tcPr marL="64008" marR="64008" marT="27432" marB="27432">
                    <a:solidFill>
                      <a:srgbClr val="F8FAFC"/>
                    </a:solidFill>
                  </a:tcPr>
                </a:tc>
                <a:tc>
                  <a:txBody>
                    <a:bodyPr/>
                    <a:lstStyle/>
                    <a:p>
                      <a:pPr>
                        <a:defRPr sz="750">
                          <a:solidFill>
                            <a:srgbClr val="1E293B"/>
                          </a:solidFill>
                          <a:latin typeface="Aptos"/>
                        </a:defRPr>
                      </a:pPr>
                      <a:r>
                        <a:t>1 Assembly</a:t>
                      </a:r>
                    </a:p>
                  </a:txBody>
                  <a:tcPr marL="64008" marR="64008" marT="27432" marB="27432">
                    <a:solidFill>
                      <a:srgbClr val="F8FAFC"/>
                    </a:solidFill>
                  </a:tcPr>
                </a:tc>
                <a:tc>
                  <a:txBody>
                    <a:bodyPr/>
                    <a:lstStyle/>
                    <a:p>
                      <a:pPr>
                        <a:defRPr sz="750">
                          <a:solidFill>
                            <a:srgbClr val="1E293B"/>
                          </a:solidFill>
                          <a:latin typeface="Aptos"/>
                        </a:defRPr>
                      </a:pPr>
                      <a:r>
                        <a:t>₹1,500</a:t>
                      </a:r>
                    </a:p>
                  </a:txBody>
                  <a:tcPr marL="64008" marR="64008" marT="27432" marB="27432">
                    <a:solidFill>
                      <a:srgbClr val="F8FAFC"/>
                    </a:solidFill>
                  </a:tcPr>
                </a:tc>
              </a:tr>
              <a:tr h="496392">
                <a:tc>
                  <a:txBody>
                    <a:bodyPr/>
                    <a:lstStyle/>
                    <a:p>
                      <a:pPr>
                        <a:defRPr sz="750" b="1">
                          <a:solidFill>
                            <a:srgbClr val="1A3670"/>
                          </a:solidFill>
                          <a:latin typeface="Aptos"/>
                        </a:defRPr>
                      </a:pPr>
                      <a:r>
                        <a:t>TOTAL PROTOTYPE BOM</a:t>
                      </a:r>
                    </a:p>
                  </a:txBody>
                  <a:tcPr marL="64008" marR="64008" marT="27432" marB="27432">
                    <a:solidFill>
                      <a:srgbClr val="EFF6FF"/>
                    </a:solidFill>
                  </a:tcPr>
                </a:tc>
                <a:tc>
                  <a:txBody>
                    <a:bodyPr/>
                    <a:lstStyle/>
                    <a:p>
                      <a:pPr>
                        <a:defRPr sz="750" b="1">
                          <a:solidFill>
                            <a:srgbClr val="1A3670"/>
                          </a:solidFill>
                          <a:latin typeface="Aptos"/>
                        </a:defRPr>
                      </a:pPr>
                      <a:r>
                        <a:t>Source-Stated Functional Prototype</a:t>
                      </a:r>
                    </a:p>
                  </a:txBody>
                  <a:tcPr marL="64008" marR="64008" marT="27432" marB="27432">
                    <a:solidFill>
                      <a:srgbClr val="EFF6FF"/>
                    </a:solidFill>
                  </a:tcPr>
                </a:tc>
                <a:tc>
                  <a:txBody>
                    <a:bodyPr/>
                    <a:lstStyle/>
                    <a:p>
                      <a:pPr>
                        <a:defRPr sz="750" b="1">
                          <a:solidFill>
                            <a:srgbClr val="1A3670"/>
                          </a:solidFill>
                          <a:latin typeface="Aptos"/>
                        </a:defRPr>
                      </a:pPr>
                      <a:r>
                        <a:t>—</a:t>
                      </a:r>
                    </a:p>
                  </a:txBody>
                  <a:tcPr marL="64008" marR="64008" marT="27432" marB="27432">
                    <a:solidFill>
                      <a:srgbClr val="EFF6FF"/>
                    </a:solidFill>
                  </a:tcPr>
                </a:tc>
                <a:tc>
                  <a:txBody>
                    <a:bodyPr/>
                    <a:lstStyle/>
                    <a:p>
                      <a:pPr>
                        <a:defRPr sz="750" b="1">
                          <a:solidFill>
                            <a:srgbClr val="1A3670"/>
                          </a:solidFill>
                          <a:latin typeface="Aptos"/>
                        </a:defRPr>
                      </a:pPr>
                      <a:r>
                        <a:t>₹9,500</a:t>
                      </a:r>
                    </a:p>
                  </a:txBody>
                  <a:tcPr marL="64008" marR="64008" marT="27432" marB="27432">
                    <a:solidFill>
                      <a:srgbClr val="EFF6FF"/>
                    </a:solidFill>
                  </a:tcPr>
                </a:tc>
              </a:tr>
            </a:tbl>
          </a:graphicData>
        </a:graphic>
      </p:graphicFrame>
      <p:sp>
        <p:nvSpPr>
          <p:cNvPr id="13" name="Rounded Rectangle 12"/>
          <p:cNvSpPr/>
          <p:nvPr/>
        </p:nvSpPr>
        <p:spPr>
          <a:xfrm>
            <a:off x="6858000" y="4389120"/>
            <a:ext cx="4937760" cy="201168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80" b="1">
                <a:solidFill>
                  <a:srgbClr val="166534"/>
                </a:solidFill>
                <a:latin typeface="Aptos"/>
              </a:defRPr>
            </a:pPr>
            <a:r>
              <a:t>UNIT ECONOMICS &amp; SCALABILITY ANALYSIS</a:t>
            </a:r>
          </a:p>
          <a:p>
            <a:pPr>
              <a:defRPr sz="750">
                <a:solidFill>
                  <a:srgbClr val="1E293B"/>
                </a:solidFill>
                <a:latin typeface="Aptos"/>
              </a:defRPr>
            </a:pPr>
            <a:r>
              <a:t>• Functional Prototype BOM: ₹9,500 (component subtotal for single bench/wearable prototype).</a:t>
            </a:r>
            <a:br/>
            <a:r>
              <a:t>• Commercial Volume Manufacturing: Projected to reduce to ₹3,650 per unit at 1,000+ units through automated SMT assembly, reel-based component sourcing, and injection-molded TPU tooling.</a:t>
            </a:r>
            <a:br/>
            <a:r>
              <a:t>• Target Retail Price: Benchmarked at ₹4,500 retail, offering a transformative alternative to imported haptic vests (₹1,20,000+) and handheld smart canes (₹4,000–₹6,000).</a:t>
            </a:r>
            <a:br/>
            <a:r>
              <a:t>• Subsidized Distribution: Designed for integration into government welfare schemes (ADIP / ALIMCO) and partnership distribution through EnAble India and Blind Persons Associations.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MAKER JOURNEY</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STAGE 1 TO STAGE 2 ITERATIONS</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85800"/>
            <a:ext cx="11430000" cy="274320"/>
          </a:xfrm>
          <a:prstGeom prst="rect">
            <a:avLst/>
          </a:prstGeom>
          <a:noFill/>
        </p:spPr>
        <p:txBody>
          <a:bodyPr wrap="square" lIns="0" tIns="0">
            <a:spAutoFit/>
          </a:bodyPr>
          <a:lstStyle/>
          <a:p>
            <a:pPr>
              <a:defRPr sz="950" b="1">
                <a:solidFill>
                  <a:srgbClr val="0070AE"/>
                </a:solidFill>
                <a:latin typeface="Aptos"/>
              </a:defRPr>
            </a:pPr>
            <a:r>
              <a:t>FROM SYSTEM CONCEPT TO WEARABLE PROTOTYPE • HARDWARE &amp; FIRMWARE ITERATIONS</a:t>
            </a:r>
          </a:p>
        </p:txBody>
      </p:sp>
      <p:pic>
        <p:nvPicPr>
          <p:cNvPr id="8" name="Picture 7" descr="workbench_lab.jpg"/>
          <p:cNvPicPr>
            <a:picLocks noChangeAspect="1"/>
          </p:cNvPicPr>
          <p:nvPr/>
        </p:nvPicPr>
        <p:blipFill>
          <a:blip r:embed="rId4"/>
          <a:stretch>
            <a:fillRect/>
          </a:stretch>
        </p:blipFill>
        <p:spPr>
          <a:xfrm>
            <a:off x="365760" y="1005840"/>
            <a:ext cx="3474720" cy="2286000"/>
          </a:xfrm>
          <a:prstGeom prst="rect">
            <a:avLst/>
          </a:prstGeom>
        </p:spPr>
      </p:pic>
      <p:sp>
        <p:nvSpPr>
          <p:cNvPr id="9" name="Rounded Rectangle 8"/>
          <p:cNvSpPr/>
          <p:nvPr/>
        </p:nvSpPr>
        <p:spPr>
          <a:xfrm>
            <a:off x="365760" y="3154680"/>
            <a:ext cx="3474720" cy="41148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680">
                <a:solidFill>
                  <a:srgbClr val="FFFFFF"/>
                </a:solidFill>
                <a:latin typeface="Aptos"/>
              </a:defRPr>
            </a:pPr>
            <a:r>
              <a:t>Fig 1: Benchtop prototype rig: ESP32-S3 wired to ToF LiDARs, LRAs, and oscilloscope showing PWM waveforms.</a:t>
            </a:r>
          </a:p>
        </p:txBody>
      </p:sp>
      <p:pic>
        <p:nvPicPr>
          <p:cNvPr id="10" name="Picture 9" descr="cad_ui_feature_tree.jpg"/>
          <p:cNvPicPr>
            <a:picLocks noChangeAspect="1"/>
          </p:cNvPicPr>
          <p:nvPr/>
        </p:nvPicPr>
        <p:blipFill>
          <a:blip r:embed="rId5"/>
          <a:stretch>
            <a:fillRect/>
          </a:stretch>
        </p:blipFill>
        <p:spPr>
          <a:xfrm>
            <a:off x="4023360" y="1005840"/>
            <a:ext cx="3474720" cy="2286000"/>
          </a:xfrm>
          <a:prstGeom prst="rect">
            <a:avLst/>
          </a:prstGeom>
        </p:spPr>
      </p:pic>
      <p:sp>
        <p:nvSpPr>
          <p:cNvPr id="11" name="Rounded Rectangle 10"/>
          <p:cNvSpPr/>
          <p:nvPr/>
        </p:nvSpPr>
        <p:spPr>
          <a:xfrm>
            <a:off x="4023360" y="3154680"/>
            <a:ext cx="3474720" cy="41148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680">
                <a:solidFill>
                  <a:srgbClr val="FFFFFF"/>
                </a:solidFill>
                <a:latin typeface="Aptos"/>
              </a:defRPr>
            </a:pPr>
            <a:r>
              <a:t>Fig 2: 3D CAD modeling UI showing active parametric feature tree for the modular TPU pod and belt mount.</a:t>
            </a:r>
          </a:p>
        </p:txBody>
      </p:sp>
      <p:pic>
        <p:nvPicPr>
          <p:cNvPr id="12" name="Picture 11" descr="eda_kicad_layout.jpg"/>
          <p:cNvPicPr>
            <a:picLocks noChangeAspect="1"/>
          </p:cNvPicPr>
          <p:nvPr/>
        </p:nvPicPr>
        <p:blipFill>
          <a:blip r:embed="rId6"/>
          <a:stretch>
            <a:fillRect/>
          </a:stretch>
        </p:blipFill>
        <p:spPr>
          <a:xfrm>
            <a:off x="365760" y="3703320"/>
            <a:ext cx="7132320" cy="2240280"/>
          </a:xfrm>
          <a:prstGeom prst="rect">
            <a:avLst/>
          </a:prstGeom>
        </p:spPr>
      </p:pic>
      <p:sp>
        <p:nvSpPr>
          <p:cNvPr id="13" name="Rounded Rectangle 12"/>
          <p:cNvSpPr/>
          <p:nvPr/>
        </p:nvSpPr>
        <p:spPr>
          <a:xfrm>
            <a:off x="365760" y="5989320"/>
            <a:ext cx="7132320" cy="411480"/>
          </a:xfrm>
          <a:prstGeom prst="roundRect">
            <a:avLst/>
          </a:prstGeom>
          <a:solidFill>
            <a:srgbClr val="1A3670"/>
          </a:solidFill>
          <a:ln w="1270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a:solidFill>
                  <a:srgbClr val="FFFFFF"/>
                </a:solidFill>
                <a:latin typeface="Aptos"/>
              </a:defRPr>
            </a:pPr>
            <a:r>
              <a:t>Fig 3: EDA layout software (KiCad) showing 2-layer polyimide flexible PCB harness routing with 0-error DRC rule-check logs.</a:t>
            </a:r>
          </a:p>
        </p:txBody>
      </p:sp>
      <p:sp>
        <p:nvSpPr>
          <p:cNvPr id="14" name="Rounded Rectangle 13"/>
          <p:cNvSpPr/>
          <p:nvPr/>
        </p:nvSpPr>
        <p:spPr>
          <a:xfrm>
            <a:off x="7680960" y="1005840"/>
            <a:ext cx="4114800" cy="53949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wrap="square"/>
          <a:lstStyle/>
          <a:p>
            <a:pPr algn="ctr">
              <a:defRPr sz="900" b="1">
                <a:solidFill>
                  <a:srgbClr val="1A3670"/>
                </a:solidFill>
                <a:latin typeface="Aptos"/>
              </a:defRPr>
            </a:pPr>
            <a:r>
              <a:t>STAGE 1 TO STAGE 2 ENGINEERING ITERATIONS</a:t>
            </a:r>
          </a:p>
          <a:p>
            <a:br/>
            <a:pPr>
              <a:defRPr sz="780" b="1">
                <a:solidFill>
                  <a:srgbClr val="0070AE"/>
                </a:solidFill>
                <a:latin typeface="Aptos"/>
              </a:defRPr>
            </a:pPr>
            <a:r>
              <a:t>1. Optical Sensing Geometry Evolution</a:t>
            </a:r>
          </a:p>
          <a:p>
            <a:pPr>
              <a:defRPr sz="700">
                <a:solidFill>
                  <a:srgbClr val="1E293B"/>
                </a:solidFill>
                <a:latin typeface="Aptos"/>
              </a:defRPr>
            </a:pPr>
            <a:r>
              <a:t>Shifted from single-plane waist detection to dual-elevation geometry (4x 0° waist + 4x +25° upward sensors). This creates a 2.1m protective cone to detect overhead tree limbs and shop awnings without increasing sensor count.</a:t>
            </a:r>
          </a:p>
          <a:p>
            <a:br/>
            <a:pPr>
              <a:defRPr sz="780" b="1">
                <a:solidFill>
                  <a:srgbClr val="0070AE"/>
                </a:solidFill>
                <a:latin typeface="Aptos"/>
              </a:defRPr>
            </a:pPr>
            <a:r>
              <a:t>2. Deterministic Crosstalk Mitigation</a:t>
            </a:r>
          </a:p>
          <a:p>
            <a:pPr>
              <a:defRPr sz="700">
                <a:solidFill>
                  <a:srgbClr val="1E293B"/>
                </a:solidFill>
                <a:latin typeface="Aptos"/>
              </a:defRPr>
            </a:pPr>
            <a:r>
              <a:t>Developed an interleaved firing sequence (1→5→2→6→3→7→4→8) with 4 ms phase offsets managed via TCA9548A multiplexer. Eliminates optical interference while sustaining a 15 Hz aggregate refresh rate.</a:t>
            </a:r>
          </a:p>
          <a:p>
            <a:br/>
            <a:pPr>
              <a:defRPr sz="780" b="1">
                <a:solidFill>
                  <a:srgbClr val="0070AE"/>
                </a:solidFill>
                <a:latin typeface="Aptos"/>
              </a:defRPr>
            </a:pPr>
            <a:r>
              <a:t>3. Resonant Haptic Actuator Selection</a:t>
            </a:r>
          </a:p>
          <a:p>
            <a:pPr>
              <a:defRPr sz="700">
                <a:solidFill>
                  <a:srgbClr val="1E293B"/>
                </a:solidFill>
                <a:latin typeface="Aptos"/>
              </a:defRPr>
            </a:pPr>
            <a:r>
              <a:t>Replaced generic ERM vibration motors with precision 205 Hz Linear Resonant Actuators (LRAs) driven by TI DRV2605L controllers. Achieves 5 ms rapid rise time, 2.2 G peak acceleration, and 60% lower power.</a:t>
            </a:r>
          </a:p>
          <a:p>
            <a:br/>
            <a:pPr>
              <a:defRPr sz="780" b="1">
                <a:solidFill>
                  <a:srgbClr val="0070AE"/>
                </a:solidFill>
                <a:latin typeface="Aptos"/>
              </a:defRPr>
            </a:pPr>
            <a:r>
              <a:t>4. Flexible PCB &amp; Pod Packaging</a:t>
            </a:r>
          </a:p>
          <a:p>
            <a:pPr>
              <a:defRPr sz="700">
                <a:solidFill>
                  <a:srgbClr val="1E293B"/>
                </a:solidFill>
                <a:latin typeface="Aptos"/>
              </a:defRPr>
            </a:pPr>
            <a:r>
              <a:t>Transitioned from bulky discrete wiring to a custom 2-layer polyimide flex-PCB (FPC) harness housed within injection-molded TPU pods and breathable neoprene belt, reducing total wearable weight to &lt;320g.</a:t>
            </a:r>
          </a:p>
          <a:p>
            <a:br/>
            <a:pPr>
              <a:defRPr sz="780" b="1">
                <a:solidFill>
                  <a:srgbClr val="0070AE"/>
                </a:solidFill>
                <a:latin typeface="Aptos"/>
              </a:defRPr>
            </a:pPr>
            <a:r>
              <a:t>5. Power &amp; Thermal Management</a:t>
            </a:r>
          </a:p>
          <a:p>
            <a:pPr>
              <a:defRPr sz="700">
                <a:solidFill>
                  <a:srgbClr val="1E293B"/>
                </a:solidFill>
                <a:latin typeface="Aptos"/>
              </a:defRPr>
            </a:pPr>
            <a:r>
              <a:t>Integrated BMI160 6-DOF IMU to trigger 15 µA light sleep when stationary with 5 ms fast wake upon step detection. Verified skin-facing pod temperature target &lt;34.5°C under continuous resonance.</a:t>
            </a:r>
          </a:p>
          <a:p>
            <a:br/>
            <a:pPr>
              <a:defRPr sz="780" b="1">
                <a:solidFill>
                  <a:srgbClr val="0070AE"/>
                </a:solidFill>
                <a:latin typeface="Aptos"/>
              </a:defRPr>
            </a:pPr>
            <a:r>
              <a:t>6. Inclusive Deaf-Blind Accessibility</a:t>
            </a:r>
          </a:p>
          <a:p>
            <a:pPr>
              <a:defRPr sz="700">
                <a:solidFill>
                  <a:srgbClr val="1E293B"/>
                </a:solidFill>
                <a:latin typeface="Aptos"/>
              </a:defRPr>
            </a:pPr>
            <a:r>
              <a:t>Implemented a zero-sight physical belt self-test (double-tap triggers clockwise verification sweep) and an offline BLE companion application compliant with TalkBack/VoiceOver and O&amp;M trainer radar mirroring.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SAFETY &amp; HAZARD MITIGATION</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SAFETY &amp; COMPLIANCE</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777240"/>
            <a:ext cx="5577840" cy="5577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1A3670"/>
                </a:solidFill>
                <a:latin typeface="Aptos"/>
              </a:defRPr>
            </a:pPr>
            <a:r>
              <a:t>⬟ SAFETY &amp; HAZARD MITIGATION MEASURES</a:t>
            </a:r>
          </a:p>
          <a:p>
            <a:br/>
            <a:pPr>
              <a:defRPr sz="800" b="1">
                <a:solidFill>
                  <a:srgbClr val="1A3670"/>
                </a:solidFill>
                <a:latin typeface="Aptos"/>
              </a:defRPr>
            </a:pPr>
            <a:r>
              <a:t>1. Electrical &amp; Battery Safety</a:t>
            </a:r>
          </a:p>
          <a:p>
            <a:pPr>
              <a:defRPr sz="720">
                <a:solidFill>
                  <a:srgbClr val="1E293B"/>
                </a:solidFill>
                <a:latin typeface="Aptos"/>
              </a:defRPr>
            </a:pPr>
            <a:r>
              <a:t>• Powered by an IEC 62133-certified 3.7V 2500 mAh Li-ion cell.</a:t>
            </a:r>
            <a:br/>
            <a:r>
              <a:t>• Hardware BMS provides multi-tier protection: 4.25V over-voltage (OVP), 2.80V under-voltage (UVP), and 2.0A over-current (OCP).</a:t>
            </a:r>
            <a:br/>
            <a:r>
              <a:t>• DRV2605L driver current is hardware-limited to 150 mA, preventing actuator drive circuit overload.</a:t>
            </a:r>
          </a:p>
          <a:p>
            <a:br/>
            <a:pPr>
              <a:defRPr sz="800" b="1">
                <a:solidFill>
                  <a:srgbClr val="D97706"/>
                </a:solidFill>
                <a:latin typeface="Aptos"/>
              </a:defRPr>
            </a:pPr>
            <a:r>
              <a:t>2. Thermal Safety &amp; Contact Temperature</a:t>
            </a:r>
          </a:p>
          <a:p>
            <a:pPr>
              <a:defRPr sz="720">
                <a:solidFill>
                  <a:srgbClr val="1E293B"/>
                </a:solidFill>
                <a:latin typeface="Aptos"/>
              </a:defRPr>
            </a:pPr>
            <a:r>
              <a:t>• Under continuous resonant actuation for 60 minutes, the skin-facing pod surface temperature is targeted to remain below 34.5°C.</a:t>
            </a:r>
            <a:br/>
            <a:r>
              <a:t>• Well within safe human skin contact threshold (&lt;41°C per medical wearable guidelines), preventing localized burns or discomfort.</a:t>
            </a:r>
          </a:p>
          <a:p>
            <a:br/>
            <a:pPr>
              <a:defRPr sz="800" b="1">
                <a:solidFill>
                  <a:srgbClr val="166534"/>
                </a:solidFill>
                <a:latin typeface="Aptos"/>
              </a:defRPr>
            </a:pPr>
            <a:r>
              <a:t>3. Optical / Ocular Radiation Safety</a:t>
            </a:r>
          </a:p>
          <a:p>
            <a:pPr>
              <a:defRPr sz="720">
                <a:solidFill>
                  <a:srgbClr val="1E293B"/>
                </a:solidFill>
                <a:latin typeface="Aptos"/>
              </a:defRPr>
            </a:pPr>
            <a:r>
              <a:t>• All 8 ST VL53L1X optical emitters comply with Class 1 Laser Safety standards (IEC 60825-1:2014) at 940 nm wavelength.</a:t>
            </a:r>
            <a:br/>
            <a:r>
              <a:t>• Poses zero ocular hazard to user, bystanders, or guide animals under all operating conditions.</a:t>
            </a:r>
          </a:p>
          <a:p>
            <a:br/>
            <a:pPr>
              <a:defRPr sz="800" b="1">
                <a:solidFill>
                  <a:srgbClr val="0070AE"/>
                </a:solidFill>
                <a:latin typeface="Aptos"/>
              </a:defRPr>
            </a:pPr>
            <a:r>
              <a:t>4. Sensory Fatigue Prevention</a:t>
            </a:r>
          </a:p>
          <a:p>
            <a:pPr>
              <a:defRPr sz="720">
                <a:solidFill>
                  <a:srgbClr val="1E293B"/>
                </a:solidFill>
                <a:latin typeface="Aptos"/>
              </a:defRPr>
            </a:pPr>
            <a:r>
              <a:t>• Continuous tactile stimulation induces mechanoreceptor desensitization within 45 seconds.</a:t>
            </a:r>
            <a:br/>
            <a:r>
              <a:t>• Firmware enforces a 3-second alert decay window: if user pauses before an obstacle, pulse intensity gracefully decays to maintain sensitivity.</a:t>
            </a:r>
          </a:p>
          <a:p>
            <a:br/>
            <a:pPr>
              <a:defRPr sz="800" b="1">
                <a:solidFill>
                  <a:srgbClr val="1A3670"/>
                </a:solidFill>
                <a:latin typeface="Aptos"/>
              </a:defRPr>
            </a:pPr>
            <a:r>
              <a:t>5. Wearability &amp; Mechanical Safety</a:t>
            </a:r>
          </a:p>
          <a:p>
            <a:pPr>
              <a:defRPr sz="720">
                <a:solidFill>
                  <a:srgbClr val="1E293B"/>
                </a:solidFill>
                <a:latin typeface="Aptos"/>
              </a:defRPr>
            </a:pPr>
            <a:r>
              <a:t>• Rounded pod geometry prevents clothing snagging; internal silicone dampeners prevent vibration bleed to frame.</a:t>
            </a:r>
            <a:br/>
            <a:r>
              <a:t>• Flexible strain-relieved FPC prevents skin pinching; quick-release magnetic/velcro buckle ensures rapid removal.</a:t>
            </a:r>
          </a:p>
        </p:txBody>
      </p:sp>
      <p:sp>
        <p:nvSpPr>
          <p:cNvPr id="8" name="Rounded Rectangle 7"/>
          <p:cNvSpPr/>
          <p:nvPr/>
        </p:nvSpPr>
        <p:spPr>
          <a:xfrm>
            <a:off x="6217920" y="777240"/>
            <a:ext cx="5577840" cy="5577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166534"/>
                </a:solidFill>
                <a:latin typeface="Aptos"/>
              </a:defRPr>
            </a:pPr>
            <a:r>
              <a:t>✦ STANDARDS &amp; FIELD COMPLIANCE MATRIX</a:t>
            </a:r>
          </a:p>
          <a:p>
            <a:br/>
            <a:pPr>
              <a:defRPr sz="800" b="1">
                <a:solidFill>
                  <a:srgbClr val="1A3670"/>
                </a:solidFill>
                <a:latin typeface="Aptos"/>
              </a:defRPr>
            </a:pPr>
            <a:r>
              <a:t>• IEC 62133-2:2017 Battery Safety Reference</a:t>
            </a:r>
          </a:p>
          <a:p>
            <a:pPr>
              <a:defRPr sz="720">
                <a:solidFill>
                  <a:srgbClr val="1E293B"/>
                </a:solidFill>
                <a:latin typeface="Aptos"/>
              </a:defRPr>
            </a:pPr>
            <a:r>
              <a:t>Secondary lithium cells and batteries for portable applications. Enforces thermal shock, short-circuit, overcharge, and mechanical drop compliance criteria.</a:t>
            </a:r>
          </a:p>
          <a:p>
            <a:br/>
            <a:pPr>
              <a:defRPr sz="800" b="1">
                <a:solidFill>
                  <a:srgbClr val="1A3670"/>
                </a:solidFill>
                <a:latin typeface="Aptos"/>
              </a:defRPr>
            </a:pPr>
            <a:r>
              <a:t>• IEC 60825-1:2014 Laser Eye-Safety Classification</a:t>
            </a:r>
          </a:p>
          <a:p>
            <a:pPr>
              <a:defRPr sz="720">
                <a:solidFill>
                  <a:srgbClr val="1E293B"/>
                </a:solidFill>
                <a:latin typeface="Aptos"/>
              </a:defRPr>
            </a:pPr>
            <a:r>
              <a:t>Safety of laser products: 940 nm infrared VCSEL emitters documented as Class 1 inherently eye-safe under all magnification and exposure conditions.</a:t>
            </a:r>
          </a:p>
          <a:p>
            <a:br/>
            <a:pPr>
              <a:defRPr sz="800" b="1">
                <a:solidFill>
                  <a:srgbClr val="1A3670"/>
                </a:solidFill>
                <a:latin typeface="Aptos"/>
              </a:defRPr>
            </a:pPr>
            <a:r>
              <a:t>• Thermal Contact &amp; Skin Protection Verification</a:t>
            </a:r>
          </a:p>
          <a:p>
            <a:pPr>
              <a:defRPr sz="720">
                <a:solidFill>
                  <a:srgbClr val="1E293B"/>
                </a:solidFill>
                <a:latin typeface="Aptos"/>
              </a:defRPr>
            </a:pPr>
            <a:r>
              <a:t>Planned thermal camera and thermocouple profiling under sustained 100% actuation duty cycle to document skin-facing temperature below 34.5°C.</a:t>
            </a:r>
          </a:p>
          <a:p>
            <a:br/>
            <a:pPr>
              <a:defRPr sz="800" b="1">
                <a:solidFill>
                  <a:srgbClr val="1A3670"/>
                </a:solidFill>
                <a:latin typeface="Aptos"/>
              </a:defRPr>
            </a:pPr>
            <a:r>
              <a:t>• IP54 Enclosure Ingress Protection</a:t>
            </a:r>
          </a:p>
          <a:p>
            <a:pPr>
              <a:defRPr sz="720">
                <a:solidFill>
                  <a:srgbClr val="1E293B"/>
                </a:solidFill>
                <a:latin typeface="Aptos"/>
              </a:defRPr>
            </a:pPr>
            <a:r>
              <a:t>Mechanical enclosure designed to prevent harmful dust ingress and resist multi-directional splashing water during rain or outdoor use.</a:t>
            </a:r>
          </a:p>
          <a:p>
            <a:br/>
            <a:pPr>
              <a:defRPr sz="800" b="1">
                <a:solidFill>
                  <a:srgbClr val="1A3670"/>
                </a:solidFill>
                <a:latin typeface="Aptos"/>
              </a:defRPr>
            </a:pPr>
            <a:r>
              <a:t>• Electromagnetic Compatibility (EMC / RED)</a:t>
            </a:r>
          </a:p>
          <a:p>
            <a:pPr>
              <a:defRPr sz="720">
                <a:solidFill>
                  <a:srgbClr val="1E293B"/>
                </a:solidFill>
                <a:latin typeface="Aptos"/>
              </a:defRPr>
            </a:pPr>
            <a:r>
              <a:t>Verification of 2.4 GHz BLE emissions and low-noise DC-DC regulator switching to prevent interference with medical pacemakers or hearing aids.</a:t>
            </a:r>
          </a:p>
          <a:p>
            <a:br/>
            <a:pPr>
              <a:defRPr sz="800" b="1">
                <a:solidFill>
                  <a:srgbClr val="1A3670"/>
                </a:solidFill>
                <a:latin typeface="Aptos"/>
              </a:defRPr>
            </a:pPr>
            <a:r>
              <a:t>• Accessibility Standards &amp; Assistive Compliance</a:t>
            </a:r>
          </a:p>
          <a:p>
            <a:pPr>
              <a:defRPr sz="720">
                <a:solidFill>
                  <a:srgbClr val="1E293B"/>
                </a:solidFill>
                <a:latin typeface="Aptos"/>
              </a:defRPr>
            </a:pPr>
            <a:r>
              <a:t>Companion mobile interface evaluated against Google Accessibility Scanner and W3C WCAG 2.1 AA for TalkBack and VoiceOver compliance.</a:t>
            </a:r>
          </a:p>
          <a:p>
            <a:br/>
            <a:pPr>
              <a:defRPr sz="800" b="1">
                <a:solidFill>
                  <a:srgbClr val="1A3670"/>
                </a:solidFill>
                <a:latin typeface="Aptos"/>
              </a:defRPr>
            </a:pPr>
            <a:r>
              <a:t>• Structured Controlled Mobility Trials</a:t>
            </a:r>
          </a:p>
          <a:p>
            <a:pPr>
              <a:defRPr sz="720">
                <a:solidFill>
                  <a:srgbClr val="1E293B"/>
                </a:solidFill>
                <a:latin typeface="Aptos"/>
              </a:defRPr>
            </a:pPr>
            <a:r>
              <a:t>Multi-stage obstacle courses conducted with blindfolded volunteers and institutional partners (EnAble India) under certified O&amp;M trainer supervision.</a:t>
            </a:r>
          </a:p>
          <a:p>
            <a:br/>
            <a:pPr>
              <a:defRPr sz="800" b="1">
                <a:solidFill>
                  <a:srgbClr val="1A3670"/>
                </a:solidFill>
                <a:latin typeface="Aptos"/>
              </a:defRPr>
            </a:pPr>
            <a:r>
              <a:t>• Documented FMEA &amp; Fail-Safe Protocols</a:t>
            </a:r>
          </a:p>
          <a:p>
            <a:pPr>
              <a:defRPr sz="720">
                <a:solidFill>
                  <a:srgbClr val="1E293B"/>
                </a:solidFill>
                <a:latin typeface="Aptos"/>
              </a:defRPr>
            </a:pPr>
            <a:r>
              <a:t>Formal failure modes and effects analysis with automatic system fallbacks, watchdog supervisor, and accessible non-visual fault notifications.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ROADMAP &amp; FAILURE MODE AND EFFECT ANALYSIS</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RELIABILITY &amp; MILESTONES</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777240"/>
          <a:ext cx="11430000" cy="2926080"/>
        </p:xfrm>
        <a:graphic>
          <a:graphicData uri="http://schemas.openxmlformats.org/drawingml/2006/table">
            <a:tbl>
              <a:tblPr firstRow="1" bandRow="1">
                <a:tableStyleId>{5C22544A-7EE6-4342-B048-85BDC9FD1C3A}</a:tableStyleId>
              </a:tblPr>
              <a:tblGrid>
                <a:gridCol w="2743200"/>
                <a:gridCol w="3931920"/>
                <a:gridCol w="4754880"/>
              </a:tblGrid>
              <a:tr h="418011">
                <a:tc>
                  <a:txBody>
                    <a:bodyPr/>
                    <a:lstStyle/>
                    <a:p>
                      <a:pPr>
                        <a:defRPr sz="800" b="1">
                          <a:solidFill>
                            <a:srgbClr val="FFFFFF"/>
                          </a:solidFill>
                          <a:latin typeface="Aptos"/>
                        </a:defRPr>
                      </a:pPr>
                      <a:r>
                        <a:t>FAILURE MODE</a:t>
                      </a:r>
                    </a:p>
                  </a:txBody>
                  <a:tcPr marL="64008" marR="64008" marT="36576" marB="36576">
                    <a:solidFill>
                      <a:srgbClr val="1A3670"/>
                    </a:solidFill>
                  </a:tcPr>
                </a:tc>
                <a:tc>
                  <a:txBody>
                    <a:bodyPr/>
                    <a:lstStyle/>
                    <a:p>
                      <a:pPr>
                        <a:defRPr sz="800" b="1">
                          <a:solidFill>
                            <a:srgbClr val="FFFFFF"/>
                          </a:solidFill>
                          <a:latin typeface="Aptos"/>
                        </a:defRPr>
                      </a:pPr>
                      <a:r>
                        <a:t>POTENTIAL HAZARD / EFFECT</a:t>
                      </a:r>
                    </a:p>
                  </a:txBody>
                  <a:tcPr marL="64008" marR="64008" marT="36576" marB="36576">
                    <a:solidFill>
                      <a:srgbClr val="1A3670"/>
                    </a:solidFill>
                  </a:tcPr>
                </a:tc>
                <a:tc>
                  <a:txBody>
                    <a:bodyPr/>
                    <a:lstStyle/>
                    <a:p>
                      <a:pPr>
                        <a:defRPr sz="800" b="1">
                          <a:solidFill>
                            <a:srgbClr val="FFFFFF"/>
                          </a:solidFill>
                          <a:latin typeface="Aptos"/>
                        </a:defRPr>
                      </a:pPr>
                      <a:r>
                        <a:t>PROPOSED FAIL-SAFE / MITIGATION</a:t>
                      </a:r>
                    </a:p>
                  </a:txBody>
                  <a:tcPr marL="64008" marR="64008" marT="36576" marB="36576">
                    <a:solidFill>
                      <a:srgbClr val="1A3670"/>
                    </a:solidFill>
                  </a:tcPr>
                </a:tc>
              </a:tr>
              <a:tr h="418011">
                <a:tc>
                  <a:txBody>
                    <a:bodyPr/>
                    <a:lstStyle/>
                    <a:p>
                      <a:pPr>
                        <a:defRPr sz="750">
                          <a:solidFill>
                            <a:srgbClr val="1E293B"/>
                          </a:solidFill>
                          <a:latin typeface="Aptos"/>
                        </a:defRPr>
                      </a:pPr>
                      <a:r>
                        <a:t>Optical Crosstalk or Invalid Distance</a:t>
                      </a:r>
                    </a:p>
                  </a:txBody>
                  <a:tcPr marL="64008" marR="64008" marT="27432" marB="27432">
                    <a:solidFill>
                      <a:srgbClr val="F8FAFC"/>
                    </a:solidFill>
                  </a:tcPr>
                </a:tc>
                <a:tc>
                  <a:txBody>
                    <a:bodyPr/>
                    <a:lstStyle/>
                    <a:p>
                      <a:pPr>
                        <a:defRPr sz="750">
                          <a:solidFill>
                            <a:srgbClr val="1E293B"/>
                          </a:solidFill>
                          <a:latin typeface="Aptos"/>
                        </a:defRPr>
                      </a:pPr>
                      <a:r>
                        <a:t>False obstacle alerts or missed hazards leading to user hesitation or impact.</a:t>
                      </a:r>
                    </a:p>
                  </a:txBody>
                  <a:tcPr marL="64008" marR="64008" marT="27432" marB="27432">
                    <a:solidFill>
                      <a:srgbClr val="F8FAFC"/>
                    </a:solidFill>
                  </a:tcPr>
                </a:tc>
                <a:tc>
                  <a:txBody>
                    <a:bodyPr/>
                    <a:lstStyle/>
                    <a:p>
                      <a:pPr>
                        <a:defRPr sz="750">
                          <a:solidFill>
                            <a:srgbClr val="1E293B"/>
                          </a:solidFill>
                          <a:latin typeface="Aptos"/>
                        </a:defRPr>
                      </a:pPr>
                      <a:r>
                        <a:t>Interleaved firing sequence (4 ms phase offsets), temporal median filtering, timeout error traps, and optical bench validation.</a:t>
                      </a:r>
                    </a:p>
                  </a:txBody>
                  <a:tcPr marL="64008" marR="64008" marT="27432" marB="27432">
                    <a:solidFill>
                      <a:srgbClr val="F8FAFC"/>
                    </a:solidFill>
                  </a:tcPr>
                </a:tc>
              </a:tr>
              <a:tr h="418011">
                <a:tc>
                  <a:txBody>
                    <a:bodyPr/>
                    <a:lstStyle/>
                    <a:p>
                      <a:pPr>
                        <a:defRPr sz="750">
                          <a:solidFill>
                            <a:srgbClr val="1E293B"/>
                          </a:solidFill>
                          <a:latin typeface="Aptos"/>
                        </a:defRPr>
                      </a:pPr>
                      <a:r>
                        <a:t>Sensor Obstruction or Dirt Accumulation</a:t>
                      </a:r>
                    </a:p>
                  </a:txBody>
                  <a:tcPr marL="64008" marR="64008" marT="27432" marB="27432">
                    <a:solidFill>
                      <a:srgbClr val="FFFFFF"/>
                    </a:solidFill>
                  </a:tcPr>
                </a:tc>
                <a:tc>
                  <a:txBody>
                    <a:bodyPr/>
                    <a:lstStyle/>
                    <a:p>
                      <a:pPr>
                        <a:defRPr sz="750">
                          <a:solidFill>
                            <a:srgbClr val="1E293B"/>
                          </a:solidFill>
                          <a:latin typeface="Aptos"/>
                        </a:defRPr>
                      </a:pPr>
                      <a:r>
                        <a:t>Reduced detection coverage in specific azimuth sector without user awareness.</a:t>
                      </a:r>
                    </a:p>
                  </a:txBody>
                  <a:tcPr marL="64008" marR="64008" marT="27432" marB="27432">
                    <a:solidFill>
                      <a:srgbClr val="FFFFFF"/>
                    </a:solidFill>
                  </a:tcPr>
                </a:tc>
                <a:tc>
                  <a:txBody>
                    <a:bodyPr/>
                    <a:lstStyle/>
                    <a:p>
                      <a:pPr>
                        <a:defRPr sz="750">
                          <a:solidFill>
                            <a:srgbClr val="1E293B"/>
                          </a:solidFill>
                          <a:latin typeface="Aptos"/>
                        </a:defRPr>
                      </a:pPr>
                      <a:r>
                        <a:t>Per-channel SNR / ambient light monitoring, sector dropout detection, and accessible non-visual fault indicator pulse.</a:t>
                      </a:r>
                    </a:p>
                  </a:txBody>
                  <a:tcPr marL="64008" marR="64008" marT="27432" marB="27432">
                    <a:solidFill>
                      <a:srgbClr val="FFFFFF"/>
                    </a:solidFill>
                  </a:tcPr>
                </a:tc>
              </a:tr>
              <a:tr h="418011">
                <a:tc>
                  <a:txBody>
                    <a:bodyPr/>
                    <a:lstStyle/>
                    <a:p>
                      <a:pPr>
                        <a:defRPr sz="750">
                          <a:solidFill>
                            <a:srgbClr val="1E293B"/>
                          </a:solidFill>
                          <a:latin typeface="Aptos"/>
                        </a:defRPr>
                      </a:pPr>
                      <a:r>
                        <a:t>Incorrect Directional Node Mapping</a:t>
                      </a:r>
                    </a:p>
                  </a:txBody>
                  <a:tcPr marL="64008" marR="64008" marT="27432" marB="27432">
                    <a:solidFill>
                      <a:srgbClr val="F8FAFC"/>
                    </a:solidFill>
                  </a:tcPr>
                </a:tc>
                <a:tc>
                  <a:txBody>
                    <a:bodyPr/>
                    <a:lstStyle/>
                    <a:p>
                      <a:pPr>
                        <a:defRPr sz="750">
                          <a:solidFill>
                            <a:srgbClr val="1E293B"/>
                          </a:solidFill>
                          <a:latin typeface="Aptos"/>
                        </a:defRPr>
                      </a:pPr>
                      <a:r>
                        <a:t>Misleading tactile direction communicated, prompting user to veer toward hazard.</a:t>
                      </a:r>
                    </a:p>
                  </a:txBody>
                  <a:tcPr marL="64008" marR="64008" marT="27432" marB="27432">
                    <a:solidFill>
                      <a:srgbClr val="F8FAFC"/>
                    </a:solidFill>
                  </a:tcPr>
                </a:tc>
                <a:tc>
                  <a:txBody>
                    <a:bodyPr/>
                    <a:lstStyle/>
                    <a:p>
                      <a:pPr>
                        <a:defRPr sz="750">
                          <a:solidFill>
                            <a:srgbClr val="1E293B"/>
                          </a:solidFill>
                          <a:latin typeface="Aptos"/>
                        </a:defRPr>
                      </a:pPr>
                      <a:r>
                        <a:t>Factory azimuth calibration table, spatial haptic interpolation verification, and real-time companion app radar mirror check.</a:t>
                      </a:r>
                    </a:p>
                  </a:txBody>
                  <a:tcPr marL="64008" marR="64008" marT="27432" marB="27432">
                    <a:solidFill>
                      <a:srgbClr val="F8FAFC"/>
                    </a:solidFill>
                  </a:tcPr>
                </a:tc>
              </a:tr>
              <a:tr h="418011">
                <a:tc>
                  <a:txBody>
                    <a:bodyPr/>
                    <a:lstStyle/>
                    <a:p>
                      <a:pPr>
                        <a:defRPr sz="750">
                          <a:solidFill>
                            <a:srgbClr val="1E293B"/>
                          </a:solidFill>
                          <a:latin typeface="Aptos"/>
                        </a:defRPr>
                      </a:pPr>
                      <a:r>
                        <a:t>Haptic Actuator / Driver Failure</a:t>
                      </a:r>
                    </a:p>
                  </a:txBody>
                  <a:tcPr marL="64008" marR="64008" marT="27432" marB="27432">
                    <a:solidFill>
                      <a:srgbClr val="FFFFFF"/>
                    </a:solidFill>
                  </a:tcPr>
                </a:tc>
                <a:tc>
                  <a:txBody>
                    <a:bodyPr/>
                    <a:lstStyle/>
                    <a:p>
                      <a:pPr>
                        <a:defRPr sz="750">
                          <a:solidFill>
                            <a:srgbClr val="1E293B"/>
                          </a:solidFill>
                          <a:latin typeface="Aptos"/>
                        </a:defRPr>
                      </a:pPr>
                      <a:r>
                        <a:t>Obstacle detected optically but warning not perceived physically by user.</a:t>
                      </a:r>
                    </a:p>
                  </a:txBody>
                  <a:tcPr marL="64008" marR="64008" marT="27432" marB="27432">
                    <a:solidFill>
                      <a:srgbClr val="FFFFFF"/>
                    </a:solidFill>
                  </a:tcPr>
                </a:tc>
                <a:tc>
                  <a:txBody>
                    <a:bodyPr/>
                    <a:lstStyle/>
                    <a:p>
                      <a:pPr>
                        <a:defRPr sz="750">
                          <a:solidFill>
                            <a:srgbClr val="1E293B"/>
                          </a:solidFill>
                          <a:latin typeface="Aptos"/>
                        </a:defRPr>
                      </a:pPr>
                      <a:r>
                        <a:t>Startup self-test (clockwise verification sweep), DRV2605L fault register monitoring, and adjacent-node fallback alerting.</a:t>
                      </a:r>
                    </a:p>
                  </a:txBody>
                  <a:tcPr marL="64008" marR="64008" marT="27432" marB="27432">
                    <a:solidFill>
                      <a:srgbClr val="FFFFFF"/>
                    </a:solidFill>
                  </a:tcPr>
                </a:tc>
              </a:tr>
              <a:tr h="418011">
                <a:tc>
                  <a:txBody>
                    <a:bodyPr/>
                    <a:lstStyle/>
                    <a:p>
                      <a:pPr>
                        <a:defRPr sz="750">
                          <a:solidFill>
                            <a:srgbClr val="1E293B"/>
                          </a:solidFill>
                          <a:latin typeface="Aptos"/>
                        </a:defRPr>
                      </a:pPr>
                      <a:r>
                        <a:t>Battery Depletion / Sudden Cutoff</a:t>
                      </a:r>
                    </a:p>
                  </a:txBody>
                  <a:tcPr marL="64008" marR="64008" marT="27432" marB="27432">
                    <a:solidFill>
                      <a:srgbClr val="F8FAFC"/>
                    </a:solidFill>
                  </a:tcPr>
                </a:tc>
                <a:tc>
                  <a:txBody>
                    <a:bodyPr/>
                    <a:lstStyle/>
                    <a:p>
                      <a:pPr>
                        <a:defRPr sz="750">
                          <a:solidFill>
                            <a:srgbClr val="1E293B"/>
                          </a:solidFill>
                          <a:latin typeface="Aptos"/>
                        </a:defRPr>
                      </a:pPr>
                      <a:r>
                        <a:t>Abrupt loss of navigation protection while user is walking outdoors.</a:t>
                      </a:r>
                    </a:p>
                  </a:txBody>
                  <a:tcPr marL="64008" marR="64008" marT="27432" marB="27432">
                    <a:solidFill>
                      <a:srgbClr val="F8FAFC"/>
                    </a:solidFill>
                  </a:tcPr>
                </a:tc>
                <a:tc>
                  <a:txBody>
                    <a:bodyPr/>
                    <a:lstStyle/>
                    <a:p>
                      <a:pPr>
                        <a:defRPr sz="750">
                          <a:solidFill>
                            <a:srgbClr val="1E293B"/>
                          </a:solidFill>
                          <a:latin typeface="Aptos"/>
                        </a:defRPr>
                      </a:pPr>
                      <a:r>
                        <a:t>Early 15% low-battery distinctive 3-pulse cadence warning, power-saving light sleep, and controlled safe shutdown at 2.8V.</a:t>
                      </a:r>
                    </a:p>
                  </a:txBody>
                  <a:tcPr marL="64008" marR="64008" marT="27432" marB="27432">
                    <a:solidFill>
                      <a:srgbClr val="F8FAFC"/>
                    </a:solidFill>
                  </a:tcPr>
                </a:tc>
              </a:tr>
              <a:tr h="418014">
                <a:tc>
                  <a:txBody>
                    <a:bodyPr/>
                    <a:lstStyle/>
                    <a:p>
                      <a:pPr>
                        <a:defRPr sz="750">
                          <a:solidFill>
                            <a:srgbClr val="1E293B"/>
                          </a:solidFill>
                          <a:latin typeface="Aptos"/>
                        </a:defRPr>
                      </a:pPr>
                      <a:r>
                        <a:t>Controller Firmware Stall / Bus Hang</a:t>
                      </a:r>
                    </a:p>
                  </a:txBody>
                  <a:tcPr marL="64008" marR="64008" marT="27432" marB="27432">
                    <a:solidFill>
                      <a:srgbClr val="FFFFFF"/>
                    </a:solidFill>
                  </a:tcPr>
                </a:tc>
                <a:tc>
                  <a:txBody>
                    <a:bodyPr/>
                    <a:lstStyle/>
                    <a:p>
                      <a:pPr>
                        <a:defRPr sz="750">
                          <a:solidFill>
                            <a:srgbClr val="1E293B"/>
                          </a:solidFill>
                          <a:latin typeface="Aptos"/>
                        </a:defRPr>
                      </a:pPr>
                      <a:r>
                        <a:t>Stale sensor data or continuous locked vibration causing severe confusion.</a:t>
                      </a:r>
                    </a:p>
                  </a:txBody>
                  <a:tcPr marL="64008" marR="64008" marT="27432" marB="27432">
                    <a:solidFill>
                      <a:srgbClr val="FFFFFF"/>
                    </a:solidFill>
                  </a:tcPr>
                </a:tc>
                <a:tc>
                  <a:txBody>
                    <a:bodyPr/>
                    <a:lstStyle/>
                    <a:p>
                      <a:pPr>
                        <a:defRPr sz="750">
                          <a:solidFill>
                            <a:srgbClr val="1E293B"/>
                          </a:solidFill>
                          <a:latin typeface="Aptos"/>
                        </a:defRPr>
                      </a:pPr>
                      <a:r>
                        <a:t>Hardware Watchdog Timer (WDT) with auto-reset, I²C bus timeout clear routines, and normally-quiescent actuator fail-safe.</a:t>
                      </a:r>
                    </a:p>
                  </a:txBody>
                  <a:tcPr marL="64008" marR="64008" marT="27432" marB="27432">
                    <a:solidFill>
                      <a:srgbClr val="FFFFFF"/>
                    </a:solidFill>
                  </a:tcPr>
                </a:tc>
              </a:tr>
            </a:tbl>
          </a:graphicData>
        </a:graphic>
      </p:graphicFrame>
      <p:sp>
        <p:nvSpPr>
          <p:cNvPr id="8" name="Rounded Rectangle 7"/>
          <p:cNvSpPr/>
          <p:nvPr/>
        </p:nvSpPr>
        <p:spPr>
          <a:xfrm>
            <a:off x="365760" y="3886200"/>
            <a:ext cx="2788920" cy="2560320"/>
          </a:xfrm>
          <a:prstGeom prst="roundRect">
            <a:avLst/>
          </a:prstGeom>
          <a:solidFill>
            <a:srgbClr val="FFFFFF"/>
          </a:solidFill>
          <a:ln w="19050">
            <a:solidFill>
              <a:srgbClr val="0070AE"/>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50" b="1">
                <a:solidFill>
                  <a:srgbClr val="0070AE"/>
                </a:solidFill>
                <a:latin typeface="Aptos"/>
              </a:defRPr>
            </a:pPr>
            <a:r>
              <a:t>PHASE 1 (MONTHS 1–2)</a:t>
            </a:r>
          </a:p>
          <a:p>
            <a:pPr>
              <a:defRPr sz="850" b="1">
                <a:solidFill>
                  <a:srgbClr val="1A3670"/>
                </a:solidFill>
                <a:latin typeface="Georgia"/>
              </a:defRPr>
            </a:pPr>
            <a:r>
              <a:t>Benchtop Validation &amp; Crosstalk Quantification</a:t>
            </a:r>
          </a:p>
          <a:p>
            <a:pPr>
              <a:defRPr sz="720">
                <a:solidFill>
                  <a:srgbClr val="1E293B"/>
                </a:solidFill>
                <a:latin typeface="Aptos"/>
              </a:defRPr>
            </a:pPr>
            <a:r>
              <a:t>• Breadboard integration of 8x ToF sensors + TCA9548A mux.</a:t>
            </a:r>
            <a:br/>
            <a:r>
              <a:t>• Timing calibration &amp; interleaved phase offset verification.</a:t>
            </a:r>
            <a:br/>
            <a:r>
              <a:t>• Crosstalk quantification across varied optical surfaces.</a:t>
            </a:r>
            <a:br/>
            <a:r>
              <a:t>• Deliverable: Bench rig achieving 15 Hz aggregate rate with 0 false dropouts.</a:t>
            </a:r>
          </a:p>
        </p:txBody>
      </p:sp>
      <p:sp>
        <p:nvSpPr>
          <p:cNvPr id="9" name="Rounded Rectangle 8"/>
          <p:cNvSpPr/>
          <p:nvPr/>
        </p:nvSpPr>
        <p:spPr>
          <a:xfrm>
            <a:off x="3246120" y="3886200"/>
            <a:ext cx="2788920" cy="2560320"/>
          </a:xfrm>
          <a:prstGeom prst="roundRect">
            <a:avLst/>
          </a:prstGeom>
          <a:solidFill>
            <a:srgbClr val="FFFFFF"/>
          </a:solidFill>
          <a:ln w="19050">
            <a:solidFill>
              <a:srgbClr val="1A3670"/>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50" b="1">
                <a:solidFill>
                  <a:srgbClr val="1A3670"/>
                </a:solidFill>
                <a:latin typeface="Aptos"/>
              </a:defRPr>
            </a:pPr>
            <a:r>
              <a:t>PHASE 2 (MONTHS 3–4)</a:t>
            </a:r>
          </a:p>
          <a:p>
            <a:pPr>
              <a:defRPr sz="850" b="1">
                <a:solidFill>
                  <a:srgbClr val="1A3670"/>
                </a:solidFill>
                <a:latin typeface="Georgia"/>
              </a:defRPr>
            </a:pPr>
            <a:r>
              <a:t>Custom Flex-PCB &amp; Ergonomic Pod Enclosure</a:t>
            </a:r>
          </a:p>
          <a:p>
            <a:pPr>
              <a:defRPr sz="720">
                <a:solidFill>
                  <a:srgbClr val="1E293B"/>
                </a:solidFill>
                <a:latin typeface="Aptos"/>
              </a:defRPr>
            </a:pPr>
            <a:r>
              <a:t>• Fabricate 2-layer polyimide flexible PCB (FPC) harness.</a:t>
            </a:r>
            <a:br/>
            <a:r>
              <a:t>• Tooling and casting of modular IP54 silicone-lined TPU pods.</a:t>
            </a:r>
            <a:br/>
            <a:r>
              <a:t>• Tune DRV2605L resonance frequencies to 205 Hz ± 3 Hz.</a:t>
            </a:r>
            <a:br/>
            <a:r>
              <a:t>• Deliverable: Populated wearable prototype; thermal profile &lt;34.5°C.</a:t>
            </a:r>
          </a:p>
        </p:txBody>
      </p:sp>
      <p:sp>
        <p:nvSpPr>
          <p:cNvPr id="10" name="Rounded Rectangle 9"/>
          <p:cNvSpPr/>
          <p:nvPr/>
        </p:nvSpPr>
        <p:spPr>
          <a:xfrm>
            <a:off x="6126480" y="3886200"/>
            <a:ext cx="2788920" cy="2560320"/>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50" b="1">
                <a:solidFill>
                  <a:srgbClr val="166534"/>
                </a:solidFill>
                <a:latin typeface="Aptos"/>
              </a:defRPr>
            </a:pPr>
            <a:r>
              <a:t>PHASE 3 (MONTH 5)</a:t>
            </a:r>
          </a:p>
          <a:p>
            <a:pPr>
              <a:defRPr sz="850" b="1">
                <a:solidFill>
                  <a:srgbClr val="1A3670"/>
                </a:solidFill>
                <a:latin typeface="Georgia"/>
              </a:defRPr>
            </a:pPr>
            <a:r>
              <a:t>Firmware Refinement &amp; BLE Companion App</a:t>
            </a:r>
          </a:p>
          <a:p>
            <a:pPr>
              <a:defRPr sz="720">
                <a:solidFill>
                  <a:srgbClr val="1E293B"/>
                </a:solidFill>
                <a:latin typeface="Aptos"/>
              </a:defRPr>
            </a:pPr>
            <a:r>
              <a:t>• Implement distance-to-cadence mapping (1.2s to 12Hz).</a:t>
            </a:r>
            <a:br/>
            <a:r>
              <a:t>• Test virtual-point spatial haptic interpolation between nodes.</a:t>
            </a:r>
            <a:br/>
            <a:r>
              <a:t>• Integrate TalkBack / VoiceOver offline BLE interface.</a:t>
            </a:r>
            <a:br/>
            <a:r>
              <a:t>• Deliverable: Feature-complete belt; app passing Accessibility Scanner.</a:t>
            </a:r>
          </a:p>
        </p:txBody>
      </p:sp>
      <p:sp>
        <p:nvSpPr>
          <p:cNvPr id="11" name="Rounded Rectangle 10"/>
          <p:cNvSpPr/>
          <p:nvPr/>
        </p:nvSpPr>
        <p:spPr>
          <a:xfrm>
            <a:off x="9006840" y="3886200"/>
            <a:ext cx="2788920" cy="25603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wrap="square"/>
          <a:lstStyle/>
          <a:p>
            <a:pPr algn="ctr">
              <a:defRPr sz="850" b="1">
                <a:solidFill>
                  <a:srgbClr val="D97706"/>
                </a:solidFill>
                <a:latin typeface="Aptos"/>
              </a:defRPr>
            </a:pPr>
            <a:r>
              <a:t>PHASE 4 (MONTH 6)</a:t>
            </a:r>
          </a:p>
          <a:p>
            <a:pPr>
              <a:defRPr sz="850" b="1">
                <a:solidFill>
                  <a:srgbClr val="1A3670"/>
                </a:solidFill>
                <a:latin typeface="Georgia"/>
              </a:defRPr>
            </a:pPr>
            <a:r>
              <a:t>Pilot User Trials &amp; EnAble India Validation</a:t>
            </a:r>
          </a:p>
          <a:p>
            <a:pPr>
              <a:defRPr sz="720">
                <a:solidFill>
                  <a:srgbClr val="1E293B"/>
                </a:solidFill>
                <a:latin typeface="Aptos"/>
              </a:defRPr>
            </a:pPr>
            <a:r>
              <a:t>• Structured indoor and outdoor obstacle navigation trials.</a:t>
            </a:r>
            <a:br/>
            <a:r>
              <a:t>• Blindfolded volunteers and institutional beta testers.</a:t>
            </a:r>
            <a:br/>
            <a:r>
              <a:t>• Quantitative metrics: head-strike avoidance and transit speed.</a:t>
            </a:r>
            <a:br/>
            <a:r>
              <a:t>• Deliverable: Formal pilot trial evaluation report with EnAble India.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TECHNICAL CHALLENGES &amp; RISKS</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RISK MATRIX &amp; FAIL-SAFES</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777240"/>
            <a:ext cx="4389120" cy="5577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1A3670"/>
                </a:solidFill>
                <a:latin typeface="Aptos"/>
              </a:defRPr>
            </a:pPr>
            <a:r>
              <a:t>ENGINEERING BOTTLENECKS &amp; CHALLENGES</a:t>
            </a:r>
          </a:p>
          <a:p>
            <a:br/>
            <a:pPr>
              <a:defRPr sz="800" b="1">
                <a:solidFill>
                  <a:srgbClr val="0070AE"/>
                </a:solidFill>
                <a:latin typeface="Aptos"/>
              </a:defRPr>
            </a:pPr>
            <a:r>
              <a:t>• Multi-Sensor Optical Crosstalk</a:t>
            </a:r>
          </a:p>
          <a:p>
            <a:pPr>
              <a:defRPr sz="720">
                <a:solidFill>
                  <a:srgbClr val="1E293B"/>
                </a:solidFill>
                <a:latin typeface="Aptos"/>
              </a:defRPr>
            </a:pPr>
            <a:r>
              <a:t>Mitigating overlapping 940 nm laser reflections across eight closely spaced ToF micro-LiDARs operating in simultaneous proximity.</a:t>
            </a:r>
          </a:p>
          <a:p>
            <a:br/>
            <a:pPr>
              <a:defRPr sz="800" b="1">
                <a:solidFill>
                  <a:srgbClr val="0070AE"/>
                </a:solidFill>
                <a:latin typeface="Aptos"/>
              </a:defRPr>
            </a:pPr>
            <a:r>
              <a:t>• Varied Surface Reflectance</a:t>
            </a:r>
          </a:p>
          <a:p>
            <a:pPr>
              <a:defRPr sz="720">
                <a:solidFill>
                  <a:srgbClr val="1E293B"/>
                </a:solidFill>
                <a:latin typeface="Aptos"/>
              </a:defRPr>
            </a:pPr>
            <a:r>
              <a:t>Maintaining accurate photon ranging across dark fabrics, transparent glass partitions, wet pavements, and diffuse vegetation.</a:t>
            </a:r>
          </a:p>
          <a:p>
            <a:br/>
            <a:pPr>
              <a:defRPr sz="800" b="1">
                <a:solidFill>
                  <a:srgbClr val="0070AE"/>
                </a:solidFill>
                <a:latin typeface="Aptos"/>
              </a:defRPr>
            </a:pPr>
            <a:r>
              <a:t>• Real-Time Processing Latency</a:t>
            </a:r>
          </a:p>
          <a:p>
            <a:pPr>
              <a:defRPr sz="720">
                <a:solidFill>
                  <a:srgbClr val="1E293B"/>
                </a:solidFill>
                <a:latin typeface="Aptos"/>
              </a:defRPr>
            </a:pPr>
            <a:r>
              <a:t>Executing non-blocking I²C polling, multiplexer switching, and haptic PWM modulation under strict &lt;15 ms latency without OS jitter.</a:t>
            </a:r>
          </a:p>
          <a:p>
            <a:br/>
            <a:pPr>
              <a:defRPr sz="800" b="1">
                <a:solidFill>
                  <a:srgbClr val="0070AE"/>
                </a:solidFill>
                <a:latin typeface="Aptos"/>
              </a:defRPr>
            </a:pPr>
            <a:r>
              <a:t>• Spatial Haptic Localization</a:t>
            </a:r>
          </a:p>
          <a:p>
            <a:pPr>
              <a:defRPr sz="720">
                <a:solidFill>
                  <a:srgbClr val="1E293B"/>
                </a:solidFill>
                <a:latin typeface="Aptos"/>
              </a:defRPr>
            </a:pPr>
            <a:r>
              <a:t>Ensuring user distinctly perceives eight discrete radial torso vectors without tactile blending or confusion between adjacent nodes.</a:t>
            </a:r>
          </a:p>
          <a:p>
            <a:br/>
            <a:pPr>
              <a:defRPr sz="800" b="1">
                <a:solidFill>
                  <a:srgbClr val="0070AE"/>
                </a:solidFill>
                <a:latin typeface="Aptos"/>
              </a:defRPr>
            </a:pPr>
            <a:r>
              <a:t>• Mechanoreceptor Sensory Adaptation</a:t>
            </a:r>
          </a:p>
          <a:p>
            <a:pPr>
              <a:defRPr sz="720">
                <a:solidFill>
                  <a:srgbClr val="1E293B"/>
                </a:solidFill>
                <a:latin typeface="Aptos"/>
              </a:defRPr>
            </a:pPr>
            <a:r>
              <a:t>Preventing human cutaneous tactile fatigue under sustained proximity warnings without muting safety-critical alerts.</a:t>
            </a:r>
          </a:p>
          <a:p>
            <a:br/>
            <a:pPr>
              <a:defRPr sz="800" b="1">
                <a:solidFill>
                  <a:srgbClr val="0070AE"/>
                </a:solidFill>
                <a:latin typeface="Aptos"/>
              </a:defRPr>
            </a:pPr>
            <a:r>
              <a:t>• Thermal &amp; Power Constraints</a:t>
            </a:r>
          </a:p>
          <a:p>
            <a:pPr>
              <a:defRPr sz="720">
                <a:solidFill>
                  <a:srgbClr val="1E293B"/>
                </a:solidFill>
                <a:latin typeface="Aptos"/>
              </a:defRPr>
            </a:pPr>
            <a:r>
              <a:t>Delivering up to 2.2 G tactile pulses while keeping skin contact surface &lt;34.5°C and sustaining all-day wearable battery life.</a:t>
            </a:r>
          </a:p>
          <a:p>
            <a:br/>
            <a:pPr>
              <a:defRPr sz="800" b="1">
                <a:solidFill>
                  <a:srgbClr val="0070AE"/>
                </a:solidFill>
                <a:latin typeface="Aptos"/>
              </a:defRPr>
            </a:pPr>
            <a:r>
              <a:t>• Non-Visual Deaf-Blind Accessibility</a:t>
            </a:r>
          </a:p>
          <a:p>
            <a:pPr>
              <a:defRPr sz="720">
                <a:solidFill>
                  <a:srgbClr val="1E293B"/>
                </a:solidFill>
                <a:latin typeface="Aptos"/>
              </a:defRPr>
            </a:pPr>
            <a:r>
              <a:t>Designing 100% accessible physical controls and offline status indication operable with zero auditory or visual cues.</a:t>
            </a:r>
          </a:p>
        </p:txBody>
      </p:sp>
      <p:graphicFrame>
        <p:nvGraphicFramePr>
          <p:cNvPr id="8" name="Table 7"/>
          <p:cNvGraphicFramePr>
            <a:graphicFrameLocks noGrp="1"/>
          </p:cNvGraphicFramePr>
          <p:nvPr/>
        </p:nvGraphicFramePr>
        <p:xfrm>
          <a:off x="5029200" y="777240"/>
          <a:ext cx="6766560" cy="2651760"/>
        </p:xfrm>
        <a:graphic>
          <a:graphicData uri="http://schemas.openxmlformats.org/drawingml/2006/table">
            <a:tbl>
              <a:tblPr firstRow="1" bandRow="1">
                <a:tableStyleId>{5C22544A-7EE6-4342-B048-85BDC9FD1C3A}</a:tableStyleId>
              </a:tblPr>
              <a:tblGrid>
                <a:gridCol w="2286000"/>
                <a:gridCol w="4480560"/>
              </a:tblGrid>
              <a:tr h="378822">
                <a:tc>
                  <a:txBody>
                    <a:bodyPr/>
                    <a:lstStyle/>
                    <a:p>
                      <a:pPr>
                        <a:defRPr sz="800" b="1">
                          <a:solidFill>
                            <a:srgbClr val="FFFFFF"/>
                          </a:solidFill>
                          <a:latin typeface="Aptos"/>
                        </a:defRPr>
                      </a:pPr>
                      <a:r>
                        <a:t>TECHNICAL RISK</a:t>
                      </a:r>
                    </a:p>
                  </a:txBody>
                  <a:tcPr marL="64008" marR="64008" marT="36576" marB="36576">
                    <a:solidFill>
                      <a:srgbClr val="1A3670"/>
                    </a:solidFill>
                  </a:tcPr>
                </a:tc>
                <a:tc>
                  <a:txBody>
                    <a:bodyPr/>
                    <a:lstStyle/>
                    <a:p>
                      <a:pPr>
                        <a:defRPr sz="800" b="1">
                          <a:solidFill>
                            <a:srgbClr val="FFFFFF"/>
                          </a:solidFill>
                          <a:latin typeface="Aptos"/>
                        </a:defRPr>
                      </a:pPr>
                      <a:r>
                        <a:t>PROPOSED MITIGATION</a:t>
                      </a:r>
                    </a:p>
                  </a:txBody>
                  <a:tcPr marL="64008" marR="64008" marT="36576" marB="36576">
                    <a:solidFill>
                      <a:srgbClr val="1A3670"/>
                    </a:solidFill>
                  </a:tcPr>
                </a:tc>
              </a:tr>
              <a:tr h="378822">
                <a:tc>
                  <a:txBody>
                    <a:bodyPr/>
                    <a:lstStyle/>
                    <a:p>
                      <a:pPr>
                        <a:defRPr sz="750">
                          <a:solidFill>
                            <a:srgbClr val="1E293B"/>
                          </a:solidFill>
                          <a:latin typeface="Aptos"/>
                        </a:defRPr>
                      </a:pPr>
                      <a:r>
                        <a:t>Optical Crosstalk Between ToF Sensors</a:t>
                      </a:r>
                    </a:p>
                  </a:txBody>
                  <a:tcPr marL="64008" marR="64008" marT="27432" marB="27432">
                    <a:solidFill>
                      <a:srgbClr val="F8FAFC"/>
                    </a:solidFill>
                  </a:tcPr>
                </a:tc>
                <a:tc>
                  <a:txBody>
                    <a:bodyPr/>
                    <a:lstStyle/>
                    <a:p>
                      <a:pPr>
                        <a:defRPr sz="750">
                          <a:solidFill>
                            <a:srgbClr val="1E293B"/>
                          </a:solidFill>
                          <a:latin typeface="Aptos"/>
                        </a:defRPr>
                      </a:pPr>
                      <a:r>
                        <a:t>Interleaved firing sequence (1→5→2→6→3→7→4→8) with 4 ms phase offsets.</a:t>
                      </a:r>
                    </a:p>
                  </a:txBody>
                  <a:tcPr marL="64008" marR="64008" marT="27432" marB="27432">
                    <a:solidFill>
                      <a:srgbClr val="F8FAFC"/>
                    </a:solidFill>
                  </a:tcPr>
                </a:tc>
              </a:tr>
              <a:tr h="378822">
                <a:tc>
                  <a:txBody>
                    <a:bodyPr/>
                    <a:lstStyle/>
                    <a:p>
                      <a:pPr>
                        <a:defRPr sz="750">
                          <a:solidFill>
                            <a:srgbClr val="1E293B"/>
                          </a:solidFill>
                          <a:latin typeface="Aptos"/>
                        </a:defRPr>
                      </a:pPr>
                      <a:r>
                        <a:t>Incorrect Overhead Hazard Localization</a:t>
                      </a:r>
                    </a:p>
                  </a:txBody>
                  <a:tcPr marL="64008" marR="64008" marT="27432" marB="27432">
                    <a:solidFill>
                      <a:srgbClr val="FFFFFF"/>
                    </a:solidFill>
                  </a:tcPr>
                </a:tc>
                <a:tc>
                  <a:txBody>
                    <a:bodyPr/>
                    <a:lstStyle/>
                    <a:p>
                      <a:pPr>
                        <a:defRPr sz="750">
                          <a:solidFill>
                            <a:srgbClr val="1E293B"/>
                          </a:solidFill>
                          <a:latin typeface="Aptos"/>
                        </a:defRPr>
                      </a:pPr>
                      <a:r>
                        <a:t>Calibrate dual-plane geometry (0° vs +25°) and verify radial ray-trace angles.</a:t>
                      </a:r>
                    </a:p>
                  </a:txBody>
                  <a:tcPr marL="64008" marR="64008" marT="27432" marB="27432">
                    <a:solidFill>
                      <a:srgbClr val="FFFFFF"/>
                    </a:solidFill>
                  </a:tcPr>
                </a:tc>
              </a:tr>
              <a:tr h="378822">
                <a:tc>
                  <a:txBody>
                    <a:bodyPr/>
                    <a:lstStyle/>
                    <a:p>
                      <a:pPr>
                        <a:defRPr sz="750">
                          <a:solidFill>
                            <a:srgbClr val="1E293B"/>
                          </a:solidFill>
                          <a:latin typeface="Aptos"/>
                        </a:defRPr>
                      </a:pPr>
                      <a:r>
                        <a:t>Tactile Cadence Misinterpretation</a:t>
                      </a:r>
                    </a:p>
                  </a:txBody>
                  <a:tcPr marL="64008" marR="64008" marT="27432" marB="27432">
                    <a:solidFill>
                      <a:srgbClr val="F8FAFC"/>
                    </a:solidFill>
                  </a:tcPr>
                </a:tc>
                <a:tc>
                  <a:txBody>
                    <a:bodyPr/>
                    <a:lstStyle/>
                    <a:p>
                      <a:pPr>
                        <a:defRPr sz="750">
                          <a:solidFill>
                            <a:srgbClr val="1E293B"/>
                          </a:solidFill>
                          <a:latin typeface="Aptos"/>
                        </a:defRPr>
                      </a:pPr>
                      <a:r>
                        <a:t>Distance-to-cadence tuning (1.2s to 12Hz) with distinct emergency burst at 0.4m.</a:t>
                      </a:r>
                    </a:p>
                  </a:txBody>
                  <a:tcPr marL="64008" marR="64008" marT="27432" marB="27432">
                    <a:solidFill>
                      <a:srgbClr val="F8FAFC"/>
                    </a:solidFill>
                  </a:tcPr>
                </a:tc>
              </a:tr>
              <a:tr h="378822">
                <a:tc>
                  <a:txBody>
                    <a:bodyPr/>
                    <a:lstStyle/>
                    <a:p>
                      <a:pPr>
                        <a:defRPr sz="750">
                          <a:solidFill>
                            <a:srgbClr val="1E293B"/>
                          </a:solidFill>
                          <a:latin typeface="Aptos"/>
                        </a:defRPr>
                      </a:pPr>
                      <a:r>
                        <a:t>I²C Communication Bus Stall / Latch</a:t>
                      </a:r>
                    </a:p>
                  </a:txBody>
                  <a:tcPr marL="64008" marR="64008" marT="27432" marB="27432">
                    <a:solidFill>
                      <a:srgbClr val="FFFFFF"/>
                    </a:solidFill>
                  </a:tcPr>
                </a:tc>
                <a:tc>
                  <a:txBody>
                    <a:bodyPr/>
                    <a:lstStyle/>
                    <a:p>
                      <a:pPr>
                        <a:defRPr sz="750">
                          <a:solidFill>
                            <a:srgbClr val="1E293B"/>
                          </a:solidFill>
                          <a:latin typeface="Aptos"/>
                        </a:defRPr>
                      </a:pPr>
                      <a:r>
                        <a:t>Implement bus timeout recovery routines and TCA9548A hardware reset pin.</a:t>
                      </a:r>
                    </a:p>
                  </a:txBody>
                  <a:tcPr marL="64008" marR="64008" marT="27432" marB="27432">
                    <a:solidFill>
                      <a:srgbClr val="FFFFFF"/>
                    </a:solidFill>
                  </a:tcPr>
                </a:tc>
              </a:tr>
              <a:tr h="378822">
                <a:tc>
                  <a:txBody>
                    <a:bodyPr/>
                    <a:lstStyle/>
                    <a:p>
                      <a:pPr>
                        <a:defRPr sz="750">
                          <a:solidFill>
                            <a:srgbClr val="1E293B"/>
                          </a:solidFill>
                          <a:latin typeface="Aptos"/>
                        </a:defRPr>
                      </a:pPr>
                      <a:r>
                        <a:t>Battery Voltage Sag Under Peak Load</a:t>
                      </a:r>
                    </a:p>
                  </a:txBody>
                  <a:tcPr marL="64008" marR="64008" marT="27432" marB="27432">
                    <a:solidFill>
                      <a:srgbClr val="F8FAFC"/>
                    </a:solidFill>
                  </a:tcPr>
                </a:tc>
                <a:tc>
                  <a:txBody>
                    <a:bodyPr/>
                    <a:lstStyle/>
                    <a:p>
                      <a:pPr>
                        <a:defRPr sz="750">
                          <a:solidFill>
                            <a:srgbClr val="1E293B"/>
                          </a:solidFill>
                          <a:latin typeface="Aptos"/>
                        </a:defRPr>
                      </a:pPr>
                      <a:r>
                        <a:t>Low-ESR decoupling capacitors, independent 3.3V rails, and BMS current limiting.</a:t>
                      </a:r>
                    </a:p>
                  </a:txBody>
                  <a:tcPr marL="64008" marR="64008" marT="27432" marB="27432">
                    <a:solidFill>
                      <a:srgbClr val="F8FAFC"/>
                    </a:solidFill>
                  </a:tcPr>
                </a:tc>
              </a:tr>
              <a:tr h="378828">
                <a:tc>
                  <a:txBody>
                    <a:bodyPr/>
                    <a:lstStyle/>
                    <a:p>
                      <a:pPr>
                        <a:defRPr sz="750">
                          <a:solidFill>
                            <a:srgbClr val="1E293B"/>
                          </a:solidFill>
                          <a:latin typeface="Aptos"/>
                        </a:defRPr>
                      </a:pPr>
                      <a:r>
                        <a:t>Actuator Pod Overheating on Skin</a:t>
                      </a:r>
                    </a:p>
                  </a:txBody>
                  <a:tcPr marL="64008" marR="64008" marT="27432" marB="27432">
                    <a:solidFill>
                      <a:srgbClr val="FFFFFF"/>
                    </a:solidFill>
                  </a:tcPr>
                </a:tc>
                <a:tc>
                  <a:txBody>
                    <a:bodyPr/>
                    <a:lstStyle/>
                    <a:p>
                      <a:pPr>
                        <a:defRPr sz="750">
                          <a:solidFill>
                            <a:srgbClr val="1E293B"/>
                          </a:solidFill>
                          <a:latin typeface="Aptos"/>
                        </a:defRPr>
                      </a:pPr>
                      <a:r>
                        <a:t>Active duty-cycle management, thermal isolation silicone, and hardware 150mA limit.</a:t>
                      </a:r>
                    </a:p>
                  </a:txBody>
                  <a:tcPr marL="64008" marR="64008" marT="27432" marB="27432">
                    <a:solidFill>
                      <a:srgbClr val="FFFFFF"/>
                    </a:solidFill>
                  </a:tcPr>
                </a:tc>
              </a:tr>
            </a:tbl>
          </a:graphicData>
        </a:graphic>
      </p:graphicFrame>
      <p:graphicFrame>
        <p:nvGraphicFramePr>
          <p:cNvPr id="9" name="Table 8"/>
          <p:cNvGraphicFramePr>
            <a:graphicFrameLocks noGrp="1"/>
          </p:cNvGraphicFramePr>
          <p:nvPr/>
        </p:nvGraphicFramePr>
        <p:xfrm>
          <a:off x="5029200" y="3611880"/>
          <a:ext cx="6766560" cy="2697480"/>
        </p:xfrm>
        <a:graphic>
          <a:graphicData uri="http://schemas.openxmlformats.org/drawingml/2006/table">
            <a:tbl>
              <a:tblPr firstRow="1" bandRow="1">
                <a:tableStyleId>{5C22544A-7EE6-4342-B048-85BDC9FD1C3A}</a:tableStyleId>
              </a:tblPr>
              <a:tblGrid>
                <a:gridCol w="2286000"/>
                <a:gridCol w="4480560"/>
              </a:tblGrid>
              <a:tr h="385354">
                <a:tc>
                  <a:txBody>
                    <a:bodyPr/>
                    <a:lstStyle/>
                    <a:p>
                      <a:pPr>
                        <a:defRPr sz="800" b="1">
                          <a:solidFill>
                            <a:srgbClr val="FFFFFF"/>
                          </a:solidFill>
                          <a:latin typeface="Aptos"/>
                        </a:defRPr>
                      </a:pPr>
                      <a:r>
                        <a:t>DESIGN CHALLENGE</a:t>
                      </a:r>
                    </a:p>
                  </a:txBody>
                  <a:tcPr marL="64008" marR="64008" marT="36576" marB="36576">
                    <a:solidFill>
                      <a:srgbClr val="0070AE"/>
                    </a:solidFill>
                  </a:tcPr>
                </a:tc>
                <a:tc>
                  <a:txBody>
                    <a:bodyPr/>
                    <a:lstStyle/>
                    <a:p>
                      <a:pPr>
                        <a:defRPr sz="800" b="1">
                          <a:solidFill>
                            <a:srgbClr val="FFFFFF"/>
                          </a:solidFill>
                          <a:latin typeface="Aptos"/>
                        </a:defRPr>
                      </a:pPr>
                      <a:r>
                        <a:t>PROPOSED FAIL-SAFE / ALTERNATIVE STRATEGY</a:t>
                      </a:r>
                    </a:p>
                  </a:txBody>
                  <a:tcPr marL="64008" marR="64008" marT="36576" marB="36576">
                    <a:solidFill>
                      <a:srgbClr val="0070AE"/>
                    </a:solidFill>
                  </a:tcPr>
                </a:tc>
              </a:tr>
              <a:tr h="385354">
                <a:tc>
                  <a:txBody>
                    <a:bodyPr/>
                    <a:lstStyle/>
                    <a:p>
                      <a:pPr>
                        <a:defRPr sz="750">
                          <a:solidFill>
                            <a:srgbClr val="1E293B"/>
                          </a:solidFill>
                          <a:latin typeface="Aptos"/>
                        </a:defRPr>
                      </a:pPr>
                      <a:r>
                        <a:t>Sensor Noise / False Distance Dropouts</a:t>
                      </a:r>
                    </a:p>
                  </a:txBody>
                  <a:tcPr marL="64008" marR="64008" marT="27432" marB="27432">
                    <a:solidFill>
                      <a:srgbClr val="F8FAFC"/>
                    </a:solidFill>
                  </a:tcPr>
                </a:tc>
                <a:tc>
                  <a:txBody>
                    <a:bodyPr/>
                    <a:lstStyle/>
                    <a:p>
                      <a:pPr>
                        <a:defRPr sz="750">
                          <a:solidFill>
                            <a:srgbClr val="1E293B"/>
                          </a:solidFill>
                          <a:latin typeface="Aptos"/>
                        </a:defRPr>
                      </a:pPr>
                      <a:r>
                        <a:t>Temporal median filtering, outlier rejection, and multi-frame consistency checks.</a:t>
                      </a:r>
                    </a:p>
                  </a:txBody>
                  <a:tcPr marL="64008" marR="64008" marT="27432" marB="27432">
                    <a:solidFill>
                      <a:srgbClr val="F8FAFC"/>
                    </a:solidFill>
                  </a:tcPr>
                </a:tc>
              </a:tr>
              <a:tr h="385354">
                <a:tc>
                  <a:txBody>
                    <a:bodyPr/>
                    <a:lstStyle/>
                    <a:p>
                      <a:pPr>
                        <a:defRPr sz="750">
                          <a:solidFill>
                            <a:srgbClr val="1E293B"/>
                          </a:solidFill>
                          <a:latin typeface="Aptos"/>
                        </a:defRPr>
                      </a:pPr>
                      <a:r>
                        <a:t>LRA Actuator Hardware Disconnection</a:t>
                      </a:r>
                    </a:p>
                  </a:txBody>
                  <a:tcPr marL="64008" marR="64008" marT="27432" marB="27432">
                    <a:solidFill>
                      <a:srgbClr val="FFFFFF"/>
                    </a:solidFill>
                  </a:tcPr>
                </a:tc>
                <a:tc>
                  <a:txBody>
                    <a:bodyPr/>
                    <a:lstStyle/>
                    <a:p>
                      <a:pPr>
                        <a:defRPr sz="750">
                          <a:solidFill>
                            <a:srgbClr val="1E293B"/>
                          </a:solidFill>
                          <a:latin typeface="Aptos"/>
                        </a:defRPr>
                      </a:pPr>
                      <a:r>
                        <a:t>Automatic power-on self-test sweep; fail-over warning via adjacent healthy nodes.</a:t>
                      </a:r>
                    </a:p>
                  </a:txBody>
                  <a:tcPr marL="64008" marR="64008" marT="27432" marB="27432">
                    <a:solidFill>
                      <a:srgbClr val="FFFFFF"/>
                    </a:solidFill>
                  </a:tcPr>
                </a:tc>
              </a:tr>
              <a:tr h="385354">
                <a:tc>
                  <a:txBody>
                    <a:bodyPr/>
                    <a:lstStyle/>
                    <a:p>
                      <a:pPr>
                        <a:defRPr sz="750">
                          <a:solidFill>
                            <a:srgbClr val="1E293B"/>
                          </a:solidFill>
                          <a:latin typeface="Aptos"/>
                        </a:defRPr>
                      </a:pPr>
                      <a:r>
                        <a:t>Ambiguous Tactile Proximity Gradient</a:t>
                      </a:r>
                    </a:p>
                  </a:txBody>
                  <a:tcPr marL="64008" marR="64008" marT="27432" marB="27432">
                    <a:solidFill>
                      <a:srgbClr val="F8FAFC"/>
                    </a:solidFill>
                  </a:tcPr>
                </a:tc>
                <a:tc>
                  <a:txBody>
                    <a:bodyPr/>
                    <a:lstStyle/>
                    <a:p>
                      <a:pPr>
                        <a:defRPr sz="750">
                          <a:solidFill>
                            <a:srgbClr val="1E293B"/>
                          </a:solidFill>
                          <a:latin typeface="Aptos"/>
                        </a:defRPr>
                      </a:pPr>
                      <a:r>
                        <a:t>Strict non-linear cadence mapping (1.2s, 0.6s, 0.2s, 12Hz burst) verified in trials.</a:t>
                      </a:r>
                    </a:p>
                  </a:txBody>
                  <a:tcPr marL="64008" marR="64008" marT="27432" marB="27432">
                    <a:solidFill>
                      <a:srgbClr val="F8FAFC"/>
                    </a:solidFill>
                  </a:tcPr>
                </a:tc>
              </a:tr>
              <a:tr h="385354">
                <a:tc>
                  <a:txBody>
                    <a:bodyPr/>
                    <a:lstStyle/>
                    <a:p>
                      <a:pPr>
                        <a:defRPr sz="750">
                          <a:solidFill>
                            <a:srgbClr val="1E293B"/>
                          </a:solidFill>
                          <a:latin typeface="Aptos"/>
                        </a:defRPr>
                      </a:pPr>
                      <a:r>
                        <a:t>Improper Belt Fit or Sensor Rotation</a:t>
                      </a:r>
                    </a:p>
                  </a:txBody>
                  <a:tcPr marL="64008" marR="64008" marT="27432" marB="27432">
                    <a:solidFill>
                      <a:srgbClr val="FFFFFF"/>
                    </a:solidFill>
                  </a:tcPr>
                </a:tc>
                <a:tc>
                  <a:txBody>
                    <a:bodyPr/>
                    <a:lstStyle/>
                    <a:p>
                      <a:pPr>
                        <a:defRPr sz="750">
                          <a:solidFill>
                            <a:srgbClr val="1E293B"/>
                          </a:solidFill>
                          <a:latin typeface="Aptos"/>
                        </a:defRPr>
                      </a:pPr>
                      <a:r>
                        <a:t>Contoured neoprene strap with non-slip silicone inner lining and IMU orientation check.</a:t>
                      </a:r>
                    </a:p>
                  </a:txBody>
                  <a:tcPr marL="64008" marR="64008" marT="27432" marB="27432">
                    <a:solidFill>
                      <a:srgbClr val="FFFFFF"/>
                    </a:solidFill>
                  </a:tcPr>
                </a:tc>
              </a:tr>
              <a:tr h="385354">
                <a:tc>
                  <a:txBody>
                    <a:bodyPr/>
                    <a:lstStyle/>
                    <a:p>
                      <a:pPr>
                        <a:defRPr sz="750">
                          <a:solidFill>
                            <a:srgbClr val="1E293B"/>
                          </a:solidFill>
                          <a:latin typeface="Aptos"/>
                        </a:defRPr>
                      </a:pPr>
                      <a:r>
                        <a:t>Sudden Power Loss During Walking</a:t>
                      </a:r>
                    </a:p>
                  </a:txBody>
                  <a:tcPr marL="64008" marR="64008" marT="27432" marB="27432">
                    <a:solidFill>
                      <a:srgbClr val="F8FAFC"/>
                    </a:solidFill>
                  </a:tcPr>
                </a:tc>
                <a:tc>
                  <a:txBody>
                    <a:bodyPr/>
                    <a:lstStyle/>
                    <a:p>
                      <a:pPr>
                        <a:defRPr sz="750">
                          <a:solidFill>
                            <a:srgbClr val="1E293B"/>
                          </a:solidFill>
                          <a:latin typeface="Aptos"/>
                        </a:defRPr>
                      </a:pPr>
                      <a:r>
                        <a:t>Early triple-pulse low-battery warning and non-volatile parameter saving.</a:t>
                      </a:r>
                    </a:p>
                  </a:txBody>
                  <a:tcPr marL="64008" marR="64008" marT="27432" marB="27432">
                    <a:solidFill>
                      <a:srgbClr val="F8FAFC"/>
                    </a:solidFill>
                  </a:tcPr>
                </a:tc>
              </a:tr>
              <a:tr h="385356">
                <a:tc>
                  <a:txBody>
                    <a:bodyPr/>
                    <a:lstStyle/>
                    <a:p>
                      <a:pPr>
                        <a:defRPr sz="750">
                          <a:solidFill>
                            <a:srgbClr val="1E293B"/>
                          </a:solidFill>
                          <a:latin typeface="Aptos"/>
                        </a:defRPr>
                      </a:pPr>
                      <a:r>
                        <a:t>Field Repair &amp; Maintenance Difficulty</a:t>
                      </a:r>
                    </a:p>
                  </a:txBody>
                  <a:tcPr marL="64008" marR="64008" marT="27432" marB="27432">
                    <a:solidFill>
                      <a:srgbClr val="FFFFFF"/>
                    </a:solidFill>
                  </a:tcPr>
                </a:tc>
                <a:tc>
                  <a:txBody>
                    <a:bodyPr/>
                    <a:lstStyle/>
                    <a:p>
                      <a:pPr>
                        <a:defRPr sz="750">
                          <a:solidFill>
                            <a:srgbClr val="1E293B"/>
                          </a:solidFill>
                          <a:latin typeface="Aptos"/>
                        </a:defRPr>
                      </a:pPr>
                      <a:r>
                        <a:t>Modular snap-fit TPU pods permitting single-sensor or LRA replacement in field.</a:t>
                      </a:r>
                    </a:p>
                  </a:txBody>
                  <a:tcPr marL="64008" marR="64008"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REFERENCES &amp; SOURCES</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BIBLIOGRAPHY &amp; TECHNICAL SOURCES</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777240"/>
            <a:ext cx="5577840" cy="5577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1A3670"/>
                </a:solidFill>
                <a:latin typeface="Aptos"/>
              </a:defRPr>
            </a:pPr>
            <a:r>
              <a:t>COMPETITION PROPOSAL &amp; ASSISTIVE CONTEXT</a:t>
            </a:r>
          </a:p>
          <a:p>
            <a:br/>
            <a:pPr>
              <a:defRPr sz="800" b="1">
                <a:solidFill>
                  <a:srgbClr val="0070AE"/>
                </a:solidFill>
                <a:latin typeface="Aptos"/>
              </a:defRPr>
            </a:pPr>
            <a:r>
              <a:t>[1] Primary Competition Source:</a:t>
            </a:r>
          </a:p>
          <a:p>
            <a:pPr>
              <a:defRPr sz="720">
                <a:solidFill>
                  <a:srgbClr val="1E293B"/>
                </a:solidFill>
                <a:latin typeface="Aptos"/>
              </a:defRPr>
            </a:pPr>
            <a:r>
              <a:t>Team TECHTONICS, 'SPATIAL-SENSE: A 360° Wearable Haptic-Sonar Waistband for Upper-Torso and Head-Level Collision Protection in Deaf-Blind Mobility', Vishwakarma Awards 2026–27 Stage 2 Proposal.</a:t>
            </a:r>
          </a:p>
          <a:p>
            <a:br/>
            <a:pPr>
              <a:defRPr sz="800" b="1">
                <a:solidFill>
                  <a:srgbClr val="0070AE"/>
                </a:solidFill>
                <a:latin typeface="Aptos"/>
              </a:defRPr>
            </a:pPr>
            <a:r>
              <a:t>[2] Competition Framework &amp; Mentorship:</a:t>
            </a:r>
          </a:p>
          <a:p>
            <a:pPr>
              <a:defRPr sz="720">
                <a:solidFill>
                  <a:srgbClr val="1E293B"/>
                </a:solidFill>
                <a:latin typeface="Aptos"/>
              </a:defRPr>
            </a:pPr>
            <a:r>
              <a:t>Vishwakarma Awards 2026–27, Theme 2 — Assistive Solutions, organized in collaboration with EnAble India and Indian Institute of Technology Indore (IIT Indore).</a:t>
            </a:r>
          </a:p>
          <a:p>
            <a:br/>
            <a:pPr>
              <a:defRPr sz="800" b="1">
                <a:solidFill>
                  <a:srgbClr val="0070AE"/>
                </a:solidFill>
                <a:latin typeface="Aptos"/>
              </a:defRPr>
            </a:pPr>
            <a:r>
              <a:t>[3] Target Beneficiary Demographics:</a:t>
            </a:r>
          </a:p>
          <a:p>
            <a:pPr>
              <a:defRPr sz="720">
                <a:solidFill>
                  <a:srgbClr val="1E293B"/>
                </a:solidFill>
                <a:latin typeface="Aptos"/>
              </a:defRPr>
            </a:pPr>
            <a:r>
              <a:t>National Institute for the Empowerment of Persons with Multiple Disabilities (NIEPMD) &amp; Census of India: Demographic analysis indicating 450,000+ individuals with combined visual and hearing impairment in India.</a:t>
            </a:r>
          </a:p>
          <a:p>
            <a:br/>
            <a:pPr>
              <a:defRPr sz="800" b="1">
                <a:solidFill>
                  <a:srgbClr val="0070AE"/>
                </a:solidFill>
                <a:latin typeface="Aptos"/>
              </a:defRPr>
            </a:pPr>
            <a:r>
              <a:t>[4] Orientation &amp; Mobility (O&amp;M) Standards:</a:t>
            </a:r>
          </a:p>
          <a:p>
            <a:pPr>
              <a:defRPr sz="720">
                <a:solidFill>
                  <a:srgbClr val="1E293B"/>
                </a:solidFill>
                <a:latin typeface="Aptos"/>
              </a:defRPr>
            </a:pPr>
            <a:r>
              <a:t>EnAble India &amp; Vision Aid Assistive Mobility Guidelines: White cane sweep mechanics, upper-torso collision biomechanics, and tactile interface standards for deaf-blind travelers.</a:t>
            </a:r>
          </a:p>
          <a:p>
            <a:br/>
            <a:pPr>
              <a:defRPr sz="800" b="1">
                <a:solidFill>
                  <a:srgbClr val="0070AE"/>
                </a:solidFill>
                <a:latin typeface="Aptos"/>
              </a:defRPr>
            </a:pPr>
            <a:r>
              <a:t>[5] Tactile Sensory Adaptation Research:</a:t>
            </a:r>
          </a:p>
          <a:p>
            <a:pPr>
              <a:defRPr sz="720">
                <a:solidFill>
                  <a:srgbClr val="1E293B"/>
                </a:solidFill>
                <a:latin typeface="Aptos"/>
              </a:defRPr>
            </a:pPr>
            <a:r>
              <a:t>Psychophysical studies on human cutaneous mechanoreceptor fatigue under sustained vibrotactile stimulation; foundation for the 3-second alert decay window.</a:t>
            </a:r>
          </a:p>
        </p:txBody>
      </p:sp>
      <p:pic>
        <p:nvPicPr>
          <p:cNvPr id="8" name="Picture 7" descr="dual_plane_geometry.png"/>
          <p:cNvPicPr>
            <a:picLocks noChangeAspect="1"/>
          </p:cNvPicPr>
          <p:nvPr/>
        </p:nvPicPr>
        <p:blipFill>
          <a:blip r:embed="rId4"/>
          <a:stretch>
            <a:fillRect/>
          </a:stretch>
        </p:blipFill>
        <p:spPr>
          <a:xfrm>
            <a:off x="548640" y="4663440"/>
            <a:ext cx="5212080" cy="1463040"/>
          </a:xfrm>
          <a:prstGeom prst="rect">
            <a:avLst/>
          </a:prstGeom>
        </p:spPr>
      </p:pic>
      <p:sp>
        <p:nvSpPr>
          <p:cNvPr id="9" name="Rounded Rectangle 8"/>
          <p:cNvSpPr/>
          <p:nvPr/>
        </p:nvSpPr>
        <p:spPr>
          <a:xfrm>
            <a:off x="6217920" y="777240"/>
            <a:ext cx="5577840" cy="5577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166534"/>
                </a:solidFill>
                <a:latin typeface="Aptos"/>
              </a:defRPr>
            </a:pPr>
            <a:r>
              <a:t>HARDWARE DATASHEETS &amp; SAFETY COMPLIANCE STANDARDS</a:t>
            </a:r>
          </a:p>
          <a:p>
            <a:br/>
            <a:pPr>
              <a:defRPr sz="780" b="1">
                <a:solidFill>
                  <a:srgbClr val="1A3670"/>
                </a:solidFill>
                <a:latin typeface="Aptos"/>
              </a:defRPr>
            </a:pPr>
            <a:r>
              <a:t>[6] ESP32-S3 Dual-Core Controller Datasheet:</a:t>
            </a:r>
          </a:p>
          <a:p>
            <a:pPr>
              <a:defRPr sz="700">
                <a:solidFill>
                  <a:srgbClr val="1E293B"/>
                </a:solidFill>
                <a:latin typeface="Aptos"/>
              </a:defRPr>
            </a:pPr>
            <a:r>
              <a:t>Espressif Systems, 'ESP32-S3 Series SoC Datasheet &amp; Technical Reference Manual' — 240 MHz Xtensa dual-core 32-bit LX7, Fast-Mode I²C, ULP coprocessor and BLE 5.0 radio specifications.</a:t>
            </a:r>
          </a:p>
          <a:p>
            <a:br/>
            <a:pPr>
              <a:defRPr sz="780" b="1">
                <a:solidFill>
                  <a:srgbClr val="1A3670"/>
                </a:solidFill>
                <a:latin typeface="Aptos"/>
              </a:defRPr>
            </a:pPr>
            <a:r>
              <a:t>[7] ST VL53L1X Time-of-Flight Ranging Sensor:</a:t>
            </a:r>
          </a:p>
          <a:p>
            <a:pPr>
              <a:defRPr sz="700">
                <a:solidFill>
                  <a:srgbClr val="1E293B"/>
                </a:solidFill>
                <a:latin typeface="Aptos"/>
              </a:defRPr>
            </a:pPr>
            <a:r>
              <a:t>STMicroelectronics, 'VL53L1X Long Distance Ranging Time-of-Flight Sensor Datasheet' (DocID031281 Rev 4) — 940 nm VCSEL emitter, 27° FoV, Class 1 eye-safe optical ranging to 4.0 m.</a:t>
            </a:r>
          </a:p>
          <a:p>
            <a:br/>
            <a:pPr>
              <a:defRPr sz="780" b="1">
                <a:solidFill>
                  <a:srgbClr val="1A3670"/>
                </a:solidFill>
                <a:latin typeface="Aptos"/>
              </a:defRPr>
            </a:pPr>
            <a:r>
              <a:t>[8] TI DRV2605L Haptic Driver Controller:</a:t>
            </a:r>
          </a:p>
          <a:p>
            <a:pPr>
              <a:defRPr sz="700">
                <a:solidFill>
                  <a:srgbClr val="1E293B"/>
                </a:solidFill>
                <a:latin typeface="Aptos"/>
              </a:defRPr>
            </a:pPr>
            <a:r>
              <a:t>Texas Instruments, 'DRV2605L Low-Voltage Haptic Driver for LRA and ERM Actuators' (SLOS855) — Auto-resonance tracking, 150 mA current limit, and crisp 5 ms transient braking.</a:t>
            </a:r>
          </a:p>
          <a:p>
            <a:br/>
            <a:pPr>
              <a:defRPr sz="780" b="1">
                <a:solidFill>
                  <a:srgbClr val="1A3670"/>
                </a:solidFill>
                <a:latin typeface="Aptos"/>
              </a:defRPr>
            </a:pPr>
            <a:r>
              <a:t>[9] TCA9548A 8-Channel I²C Multiplexer:</a:t>
            </a:r>
          </a:p>
          <a:p>
            <a:pPr>
              <a:defRPr sz="700">
                <a:solidFill>
                  <a:srgbClr val="1E293B"/>
                </a:solidFill>
                <a:latin typeface="Aptos"/>
              </a:defRPr>
            </a:pPr>
            <a:r>
              <a:t>Texas Instruments, 'TCA9548A Low-Voltage 8-Channel I²C Switch with Reset' (SCPS144E) — Channel isolation, address conflict resolution, and hardware bus reset support.</a:t>
            </a:r>
          </a:p>
          <a:p>
            <a:br/>
            <a:pPr>
              <a:defRPr sz="780" b="1">
                <a:solidFill>
                  <a:srgbClr val="1A3670"/>
                </a:solidFill>
                <a:latin typeface="Aptos"/>
              </a:defRPr>
            </a:pPr>
            <a:r>
              <a:t>[10] Bosch BMI160 6-DOF Inertial Measurement Unit:</a:t>
            </a:r>
          </a:p>
          <a:p>
            <a:pPr>
              <a:defRPr sz="700">
                <a:solidFill>
                  <a:srgbClr val="1E293B"/>
                </a:solidFill>
                <a:latin typeface="Aptos"/>
              </a:defRPr>
            </a:pPr>
            <a:r>
              <a:t>Bosch Sensortec, 'BMI160 Small, Low Power 6-Axis IMU Datasheet' (BST-BMI160-DS000) — Low-power step detection and fast wake-up interrupt generation.</a:t>
            </a:r>
          </a:p>
          <a:p>
            <a:br/>
            <a:pPr>
              <a:defRPr sz="780" b="1">
                <a:solidFill>
                  <a:srgbClr val="1A3670"/>
                </a:solidFill>
                <a:latin typeface="Aptos"/>
              </a:defRPr>
            </a:pPr>
            <a:r>
              <a:t>[11] IEC 62133-2:2017 Secondary Battery Safety Standard:</a:t>
            </a:r>
          </a:p>
          <a:p>
            <a:pPr>
              <a:defRPr sz="700">
                <a:solidFill>
                  <a:srgbClr val="1E293B"/>
                </a:solidFill>
                <a:latin typeface="Aptos"/>
              </a:defRPr>
            </a:pPr>
            <a:r>
              <a:t>International Electrotechnical Commission, 'Secondary cells and batteries containing alkaline or other non-acid electrolytes — Portable lithium systems safety requirements.'</a:t>
            </a:r>
          </a:p>
          <a:p>
            <a:br/>
            <a:pPr>
              <a:defRPr sz="780" b="1">
                <a:solidFill>
                  <a:srgbClr val="1A3670"/>
                </a:solidFill>
                <a:latin typeface="Aptos"/>
              </a:defRPr>
            </a:pPr>
            <a:r>
              <a:t>[12] IEC 60825-1:2014 Laser Radiation Safety Standard:</a:t>
            </a:r>
          </a:p>
          <a:p>
            <a:pPr>
              <a:defRPr sz="700">
                <a:solidFill>
                  <a:srgbClr val="1E293B"/>
                </a:solidFill>
                <a:latin typeface="Aptos"/>
              </a:defRPr>
            </a:pPr>
            <a:r>
              <a:t>International Electrotechnical Commission, 'Safety of laser products — Part 1: Equipment classification and requirements for Class 1 eye-safe optical emitters.'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maker_bhavan.png"/>
          <p:cNvPicPr>
            <a:picLocks noChangeAspect="1"/>
          </p:cNvPicPr>
          <p:nvPr/>
        </p:nvPicPr>
        <p:blipFill>
          <a:blip r:embed="rId2"/>
          <a:stretch>
            <a:fillRect/>
          </a:stretch>
        </p:blipFill>
        <p:spPr>
          <a:xfrm>
            <a:off x="365760" y="164592"/>
            <a:ext cx="729782" cy="384048"/>
          </a:xfrm>
          <a:prstGeom prst="rect">
            <a:avLst/>
          </a:prstGeom>
        </p:spPr>
      </p:pic>
      <p:pic>
        <p:nvPicPr>
          <p:cNvPr id="3" name="Picture 2" descr="logo_vishwakarma.png"/>
          <p:cNvPicPr>
            <a:picLocks noChangeAspect="1"/>
          </p:cNvPicPr>
          <p:nvPr/>
        </p:nvPicPr>
        <p:blipFill>
          <a:blip r:embed="rId3"/>
          <a:stretch>
            <a:fillRect/>
          </a:stretch>
        </p:blipFill>
        <p:spPr>
          <a:xfrm>
            <a:off x="1234440" y="109728"/>
            <a:ext cx="502920" cy="502920"/>
          </a:xfrm>
          <a:prstGeom prst="rect">
            <a:avLst/>
          </a:prstGeom>
        </p:spPr>
      </p:pic>
      <p:sp>
        <p:nvSpPr>
          <p:cNvPr id="4" name="TextBox 3"/>
          <p:cNvSpPr txBox="1"/>
          <p:nvPr/>
        </p:nvSpPr>
        <p:spPr>
          <a:xfrm>
            <a:off x="2057400" y="137160"/>
            <a:ext cx="6675120" cy="502920"/>
          </a:xfrm>
          <a:prstGeom prst="rect">
            <a:avLst/>
          </a:prstGeom>
          <a:noFill/>
        </p:spPr>
        <p:txBody>
          <a:bodyPr wrap="square" lIns="0" tIns="0" rIns="0" bIns="0">
            <a:spAutoFit/>
          </a:bodyPr>
          <a:lstStyle/>
          <a:p>
            <a:pPr>
              <a:defRPr sz="1900" b="1">
                <a:solidFill>
                  <a:srgbClr val="1A3670"/>
                </a:solidFill>
                <a:latin typeface="Georgia"/>
              </a:defRPr>
            </a:pPr>
            <a:r>
              <a:t>IMAGE SOURCES</a:t>
            </a:r>
          </a:p>
        </p:txBody>
      </p:sp>
      <p:sp>
        <p:nvSpPr>
          <p:cNvPr id="5" name="Rounded Rectangle 4"/>
          <p:cNvSpPr/>
          <p:nvPr/>
        </p:nvSpPr>
        <p:spPr>
          <a:xfrm>
            <a:off x="8778240" y="164592"/>
            <a:ext cx="3017520"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70AE"/>
                </a:solidFill>
                <a:latin typeface="Aptos"/>
              </a:defRPr>
            </a:pPr>
            <a:r>
              <a:t>VISUAL DOCUMENTATION &amp; CREDITS</a:t>
            </a:r>
          </a:p>
        </p:txBody>
      </p:sp>
      <p:sp>
        <p:nvSpPr>
          <p:cNvPr id="6" name="Rectangle 5"/>
          <p:cNvSpPr/>
          <p:nvPr/>
        </p:nvSpPr>
        <p:spPr>
          <a:xfrm>
            <a:off x="365760" y="658368"/>
            <a:ext cx="1146017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005840"/>
            <a:ext cx="11094415"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0070AE"/>
                </a:solidFill>
                <a:latin typeface="Aptos"/>
              </a:defRPr>
            </a:pPr>
            <a:r>
              <a:t>PROJECT SOURCE &amp; MOBILITY SCENARIO VISUALS</a:t>
            </a:r>
          </a:p>
          <a:p>
            <a:pPr>
              <a:defRPr sz="800">
                <a:solidFill>
                  <a:srgbClr val="1E293B"/>
                </a:solidFill>
                <a:latin typeface="Aptos"/>
              </a:defRPr>
            </a:pPr>
            <a:r>
              <a:t>• Figure 1: System Hardware Architecture &amp; Dual-Plane Ray-Trace Geometry — Extracted from SPATIAL-SENSE Theme 2 Proposal (Page 2).</a:t>
            </a:r>
            <a:br/>
            <a:r>
              <a:t>• Figure 2: Resonant Haptic Distance-to-Cadence Timing Waveforms — Extracted from SPATIAL-SENSE Theme 2 Proposal (Page 3).</a:t>
            </a:r>
            <a:br/>
            <a:r>
              <a:t>• Figures 3 &amp; 4: Before (Cane Alone Collision) &amp; After (SPATIAL-SENSE Detection) Walking Scenarios — Extracted from SPATIAL-SENSE Theme 2 Proposal (Page 7).</a:t>
            </a:r>
            <a:br/>
            <a:r>
              <a:t>• Source Reference: Vishwakarma Awards 2026–27, Theme 2 Proposal Document.</a:t>
            </a:r>
          </a:p>
        </p:txBody>
      </p:sp>
      <p:sp>
        <p:nvSpPr>
          <p:cNvPr id="8" name="Rounded Rectangle 7"/>
          <p:cNvSpPr/>
          <p:nvPr/>
        </p:nvSpPr>
        <p:spPr>
          <a:xfrm>
            <a:off x="548640" y="2697480"/>
            <a:ext cx="11094415"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1A3670"/>
                </a:solidFill>
                <a:latin typeface="Aptos"/>
              </a:defRPr>
            </a:pPr>
            <a:r>
              <a:t>CAD MODELING, SCHEMATICS &amp; EDA VISUALS</a:t>
            </a:r>
          </a:p>
          <a:p>
            <a:pPr>
              <a:defRPr sz="800">
                <a:solidFill>
                  <a:srgbClr val="1E293B"/>
                </a:solidFill>
                <a:latin typeface="Aptos"/>
              </a:defRPr>
            </a:pPr>
            <a:r>
              <a:t>• Assembled Wearable Concept &amp; Exploded CAD Assembly — Parametric 3D CAD models generated for SPATIAL-SENSE Stage 2 submission by Team TECHTONICS.</a:t>
            </a:r>
            <a:br/>
            <a:r>
              <a:t>• Parametric CAD UI Interface Screenshot — Modeled representation of modular TPU sensor pod and snap-fit belt clip development.</a:t>
            </a:r>
            <a:br/>
            <a:r>
              <a:t>• Flexible PCB (FPC) Layout &amp; DRC Check — Custom 2-layer polyimide flexible printed circuit routing designed in KiCad EDA.</a:t>
            </a:r>
            <a:br/>
            <a:r>
              <a:t>• Hardware Electrical Schematics — Sheets 1–4 functional block diagrams generated for Stage 2 submission.</a:t>
            </a:r>
          </a:p>
        </p:txBody>
      </p:sp>
      <p:sp>
        <p:nvSpPr>
          <p:cNvPr id="9" name="Rounded Rectangle 8"/>
          <p:cNvSpPr/>
          <p:nvPr/>
        </p:nvSpPr>
        <p:spPr>
          <a:xfrm>
            <a:off x="548640" y="4389120"/>
            <a:ext cx="11094415" cy="1508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64592" rIns="164592" tIns="164592" wrap="square"/>
          <a:lstStyle/>
          <a:p>
            <a:pPr algn="ctr">
              <a:defRPr sz="950" b="1">
                <a:solidFill>
                  <a:srgbClr val="166534"/>
                </a:solidFill>
                <a:latin typeface="Aptos"/>
              </a:defRPr>
            </a:pPr>
            <a:r>
              <a:t>INSTITUTIONAL BRANDING &amp; CONCEPT VISUALIZATIONS</a:t>
            </a:r>
          </a:p>
          <a:p>
            <a:pPr>
              <a:defRPr sz="800">
                <a:solidFill>
                  <a:srgbClr val="1E293B"/>
                </a:solidFill>
                <a:latin typeface="Aptos"/>
              </a:defRPr>
            </a:pPr>
            <a:r>
              <a:t>• Vishwakarma Awards Official Logo — Maker Bhavan Foundation / Vishwakarma Awards 2026–27 Submission Kit.</a:t>
            </a:r>
            <a:br/>
            <a:r>
              <a:t>• Maker Bhavan Foundation Official Logo — Competition Template Asset.</a:t>
            </a:r>
            <a:br/>
            <a:r>
              <a:t>• Product Concept Photographs — AI-assisted conceptual visualization representing the proposed wearable form factor on user torso.</a:t>
            </a:r>
            <a:br/>
            <a:r>
              <a:t>• Workbench Hardware Rig — Laboratory benchtop development environment photograph representing prototype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